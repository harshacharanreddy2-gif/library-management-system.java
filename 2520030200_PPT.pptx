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40" r:id="rId1"/>
  </p:sldMasterIdLst>
  <p:sldIdLst>
    <p:sldId id="256" r:id="rId2"/>
    <p:sldId id="257" r:id="rId3"/>
    <p:sldId id="266" r:id="rId4"/>
    <p:sldId id="267" r:id="rId5"/>
    <p:sldId id="268" r:id="rId6"/>
    <p:sldId id="258" r:id="rId7"/>
    <p:sldId id="259" r:id="rId8"/>
    <p:sldId id="262" r:id="rId9"/>
    <p:sldId id="263" r:id="rId10"/>
    <p:sldId id="270" r:id="rId11"/>
    <p:sldId id="271" r:id="rId12"/>
    <p:sldId id="272" r:id="rId13"/>
    <p:sldId id="273" r:id="rId14"/>
    <p:sldId id="269" r:id="rId15"/>
    <p:sldId id="260" r:id="rId16"/>
    <p:sldId id="274" r:id="rId17"/>
    <p:sldId id="275" r:id="rId18"/>
    <p:sldId id="265" r:id="rId19"/>
    <p:sldId id="276"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4F85E3-26AD-4D79-AAD4-8C81A60B0555}" v="33" dt="2026-03-06T13:31:42.783"/>
    <p1510:client id="{E927BB45-F561-F8FF-D0F2-CE5F1EA5591C}" v="55" dt="2026-03-07T03:41:19.2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900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0203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4580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4744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4957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6143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817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7776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6584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4260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98654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4918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84205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8804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7309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4700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3/7/2026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34482268"/>
      </p:ext>
    </p:extLst>
  </p:cSld>
  <p:clrMap bg1="lt1" tx1="dk1" bg2="lt2" tx2="dk2" accent1="accent1" accent2="accent2" accent3="accent3" accent4="accent4" accent5="accent5" accent6="accent6" hlink="hlink" folHlink="folHlink"/>
  <p:sldLayoutIdLst>
    <p:sldLayoutId id="2147484341" r:id="rId1"/>
    <p:sldLayoutId id="2147484342" r:id="rId2"/>
    <p:sldLayoutId id="2147484343" r:id="rId3"/>
    <p:sldLayoutId id="2147484344" r:id="rId4"/>
    <p:sldLayoutId id="2147484345" r:id="rId5"/>
    <p:sldLayoutId id="2147484346" r:id="rId6"/>
    <p:sldLayoutId id="2147484347" r:id="rId7"/>
    <p:sldLayoutId id="2147484348" r:id="rId8"/>
    <p:sldLayoutId id="2147484349" r:id="rId9"/>
    <p:sldLayoutId id="2147484350" r:id="rId10"/>
    <p:sldLayoutId id="2147484351" r:id="rId11"/>
    <p:sldLayoutId id="2147484352" r:id="rId12"/>
    <p:sldLayoutId id="2147484353" r:id="rId13"/>
    <p:sldLayoutId id="2147484354" r:id="rId14"/>
    <p:sldLayoutId id="2147484355" r:id="rId15"/>
    <p:sldLayoutId id="214748435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921" y="1716970"/>
            <a:ext cx="7574089" cy="1659546"/>
          </a:xfrm>
        </p:spPr>
        <p:txBody>
          <a:bodyPr>
            <a:normAutofit/>
          </a:bodyPr>
          <a:lstStyle/>
          <a:p>
            <a:r>
              <a:rPr lang="en-US" sz="4000" dirty="0">
                <a:latin typeface="Times New Roman" panose="02020603050405020304" pitchFamily="18" charset="0"/>
                <a:cs typeface="Times New Roman" panose="02020603050405020304" pitchFamily="18" charset="0"/>
              </a:rPr>
              <a:t>The Library Resource Management Application</a:t>
            </a:r>
            <a:endParaRPr sz="4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48347" y="3425593"/>
            <a:ext cx="3560064" cy="1938992"/>
          </a:xfrm>
          <a:prstGeom prst="rect">
            <a:avLst/>
          </a:prstGeom>
          <a:noFill/>
        </p:spPr>
        <p:txBody>
          <a:bodyPr wrap="square">
            <a:spAutoFit/>
          </a:bodyPr>
          <a:lstStyle/>
          <a:p>
            <a:r>
              <a:rPr sz="2000" dirty="0"/>
              <a:t>Name: </a:t>
            </a:r>
            <a:r>
              <a:rPr lang="en-IN" sz="2000" dirty="0"/>
              <a:t>G. Harsha Charan Reddy</a:t>
            </a:r>
          </a:p>
          <a:p>
            <a:r>
              <a:rPr sz="2000" dirty="0"/>
              <a:t>Roll No: </a:t>
            </a:r>
            <a:r>
              <a:rPr lang="en-IN" sz="2000" dirty="0"/>
              <a:t>2520030200</a:t>
            </a:r>
            <a:endParaRPr sz="2000" dirty="0"/>
          </a:p>
          <a:p>
            <a:r>
              <a:rPr sz="2000" dirty="0"/>
              <a:t>Bran</a:t>
            </a:r>
            <a:r>
              <a:rPr lang="en-IN" sz="2000" dirty="0" err="1"/>
              <a:t>ch</a:t>
            </a:r>
            <a:r>
              <a:rPr lang="en-IN" sz="2000" dirty="0"/>
              <a:t>: CSE</a:t>
            </a:r>
          </a:p>
          <a:p>
            <a:r>
              <a:rPr lang="en-IN" sz="2000" dirty="0"/>
              <a:t>Cluster: 1</a:t>
            </a:r>
          </a:p>
          <a:p>
            <a:r>
              <a:rPr lang="en-IN" sz="2000" dirty="0"/>
              <a:t>Section: 3</a:t>
            </a:r>
            <a:endParaRPr sz="2000" dirty="0"/>
          </a:p>
        </p:txBody>
      </p:sp>
      <p:sp>
        <p:nvSpPr>
          <p:cNvPr id="4" name="TextBox 3"/>
          <p:cNvSpPr txBox="1"/>
          <p:nvPr/>
        </p:nvSpPr>
        <p:spPr>
          <a:xfrm>
            <a:off x="6586537" y="5486400"/>
            <a:ext cx="3657600" cy="2743200"/>
          </a:xfrm>
          <a:prstGeom prst="rect">
            <a:avLst/>
          </a:prstGeom>
          <a:noFill/>
        </p:spPr>
        <p:txBody>
          <a:bodyPr wrap="none">
            <a:spAutoFit/>
          </a:bodyPr>
          <a:lstStyle/>
          <a:p>
            <a:r>
              <a:rPr sz="1200" dirty="0"/>
              <a:t>Under the Supervision of:</a:t>
            </a:r>
          </a:p>
          <a:p>
            <a:r>
              <a:rPr sz="1200" dirty="0"/>
              <a:t>________________________</a:t>
            </a:r>
          </a:p>
        </p:txBody>
      </p:sp>
      <p:pic>
        <p:nvPicPr>
          <p:cNvPr id="5" name="Picture 4">
            <a:extLst>
              <a:ext uri="{FF2B5EF4-FFF2-40B4-BE49-F238E27FC236}">
                <a16:creationId xmlns:a16="http://schemas.microsoft.com/office/drawing/2014/main" id="{309440EB-B46D-BC56-EFE7-08B46A42E004}"/>
              </a:ext>
            </a:extLst>
          </p:cNvPr>
          <p:cNvPicPr>
            <a:picLocks noChangeAspect="1"/>
          </p:cNvPicPr>
          <p:nvPr/>
        </p:nvPicPr>
        <p:blipFill>
          <a:blip r:embed="rId2"/>
          <a:stretch>
            <a:fillRect/>
          </a:stretch>
        </p:blipFill>
        <p:spPr>
          <a:xfrm>
            <a:off x="7077140" y="-261"/>
            <a:ext cx="2066925" cy="1409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299" y="1033272"/>
            <a:ext cx="7253301" cy="87905"/>
          </a:xfrm>
        </p:spPr>
        <p:txBody>
          <a:bodyPr>
            <a:normAutofit fontScale="90000"/>
          </a:bodyPr>
          <a:lstStyle/>
          <a:p>
            <a:r>
              <a:rPr lang="en-US" sz="4400" dirty="0"/>
              <a:t>                  </a:t>
            </a:r>
            <a:r>
              <a:rPr sz="4400" dirty="0"/>
              <a:t>Abstract</a:t>
            </a:r>
          </a:p>
        </p:txBody>
      </p:sp>
      <p:sp>
        <p:nvSpPr>
          <p:cNvPr id="3" name="Content Placeholder 2"/>
          <p:cNvSpPr>
            <a:spLocks noGrp="1"/>
          </p:cNvSpPr>
          <p:nvPr>
            <p:ph idx="1"/>
          </p:nvPr>
        </p:nvSpPr>
        <p:spPr>
          <a:xfrm>
            <a:off x="814507" y="1938528"/>
            <a:ext cx="7538037" cy="3996605"/>
          </a:xfrm>
        </p:spPr>
        <p:txBody>
          <a:bodyPr>
            <a:normAutofit lnSpcReduction="10000"/>
          </a:bodyPr>
          <a:lstStyle/>
          <a:p>
            <a:pPr marL="0" indent="0">
              <a:buNone/>
            </a:pPr>
            <a:r>
              <a:rPr lang="en-US" sz="2100" dirty="0"/>
              <a:t>The Library Resource Management Application is a modern, web-based system designed to efficiently manage library resources through an interactive and user-friendly interface. Built using HTML5, CSS3, and JavaScript, the application enables users to search, filter, borrow, return, and manage books seamlessly. It incorporates semantic HTML structure, responsive design using Flexbox and Grid, and dynamic UI components such as animated statistics, progress indicators, and toast notifications. The system organizes books by genre, status, and availability, ensuring structured catalog management while maintaining a visually appealing and accessible layout.</a:t>
            </a:r>
            <a:endParaRPr sz="2100" dirty="0"/>
          </a:p>
        </p:txBody>
      </p:sp>
      <p:pic>
        <p:nvPicPr>
          <p:cNvPr id="4" name="Picture 3">
            <a:extLst>
              <a:ext uri="{FF2B5EF4-FFF2-40B4-BE49-F238E27FC236}">
                <a16:creationId xmlns:a16="http://schemas.microsoft.com/office/drawing/2014/main" id="{758F7911-0B19-CEF9-625C-EF9B6BB4C2BC}"/>
              </a:ext>
            </a:extLst>
          </p:cNvPr>
          <p:cNvPicPr>
            <a:picLocks noChangeAspect="1"/>
          </p:cNvPicPr>
          <p:nvPr/>
        </p:nvPicPr>
        <p:blipFill>
          <a:blip r:embed="rId2"/>
          <a:stretch>
            <a:fillRect/>
          </a:stretch>
        </p:blipFill>
        <p:spPr>
          <a:xfrm>
            <a:off x="7077140" y="-261"/>
            <a:ext cx="2066925" cy="1409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E28024-75E2-3483-9E4F-0FF7D5885846}"/>
              </a:ext>
            </a:extLst>
          </p:cNvPr>
          <p:cNvSpPr txBox="1"/>
          <p:nvPr/>
        </p:nvSpPr>
        <p:spPr>
          <a:xfrm>
            <a:off x="292608" y="1169891"/>
            <a:ext cx="8266176" cy="4154984"/>
          </a:xfrm>
          <a:prstGeom prst="rect">
            <a:avLst/>
          </a:prstGeom>
          <a:noFill/>
        </p:spPr>
        <p:txBody>
          <a:bodyPr wrap="square">
            <a:spAutoFit/>
          </a:bodyPr>
          <a:lstStyle/>
          <a:p>
            <a:r>
              <a:rPr lang="en-US" sz="2400" dirty="0"/>
              <a:t>The application implements core programming concepts such as objects, arrays, arrow functions, DOM manipulation, event handling, and browser local storage for data persistence. It includes robust client-side form validation, exception handling, and real-time updates to maintain data accuracy and usability. Additional features such as borrow records tracking, active loan monitoring, filtering mechanisms, and dynamic rendering of book cards enhance operational efficiency. Overall, the system demonstrates the practical integration of front-end development technologies to create a functional, scalable, and interactive digital library management solution</a:t>
            </a:r>
            <a:endParaRPr lang="en-IN" sz="2400" dirty="0"/>
          </a:p>
        </p:txBody>
      </p:sp>
      <p:pic>
        <p:nvPicPr>
          <p:cNvPr id="2" name="Picture 1">
            <a:extLst>
              <a:ext uri="{FF2B5EF4-FFF2-40B4-BE49-F238E27FC236}">
                <a16:creationId xmlns:a16="http://schemas.microsoft.com/office/drawing/2014/main" id="{049B4ED7-D53F-F3B6-6E4D-0D813AED1872}"/>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1347503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12D4E-7935-C28A-70FE-95359CF55F33}"/>
              </a:ext>
            </a:extLst>
          </p:cNvPr>
          <p:cNvSpPr>
            <a:spLocks noGrp="1"/>
          </p:cNvSpPr>
          <p:nvPr>
            <p:ph type="title"/>
          </p:nvPr>
        </p:nvSpPr>
        <p:spPr/>
        <p:txBody>
          <a:bodyPr/>
          <a:lstStyle/>
          <a:p>
            <a:r>
              <a:rPr lang="en-IN" dirty="0"/>
              <a:t>Existing System</a:t>
            </a:r>
          </a:p>
        </p:txBody>
      </p:sp>
      <p:sp>
        <p:nvSpPr>
          <p:cNvPr id="3" name="Content Placeholder 2">
            <a:extLst>
              <a:ext uri="{FF2B5EF4-FFF2-40B4-BE49-F238E27FC236}">
                <a16:creationId xmlns:a16="http://schemas.microsoft.com/office/drawing/2014/main" id="{10C612D4-4B78-92D7-B050-91B5CD509D69}"/>
              </a:ext>
            </a:extLst>
          </p:cNvPr>
          <p:cNvSpPr>
            <a:spLocks noGrp="1"/>
          </p:cNvSpPr>
          <p:nvPr>
            <p:ph idx="1"/>
          </p:nvPr>
        </p:nvSpPr>
        <p:spPr/>
        <p:txBody>
          <a:bodyPr/>
          <a:lstStyle/>
          <a:p>
            <a:r>
              <a:rPr lang="en-US" dirty="0"/>
              <a:t>Libraries mostly use manual or semi-digital systems.</a:t>
            </a:r>
          </a:p>
          <a:p>
            <a:r>
              <a:rPr lang="en-US" dirty="0"/>
              <a:t>Book records maintained in registers or spreadsheets.</a:t>
            </a:r>
          </a:p>
          <a:p>
            <a:r>
              <a:rPr lang="en-US" dirty="0"/>
              <a:t>Searching books takes more time.</a:t>
            </a:r>
          </a:p>
          <a:p>
            <a:r>
              <a:rPr lang="en-US" dirty="0"/>
              <a:t>Borrow and return tracking is not automated.</a:t>
            </a:r>
          </a:p>
          <a:p>
            <a:r>
              <a:rPr lang="en-US" dirty="0"/>
              <a:t>High chance of human errors.</a:t>
            </a:r>
          </a:p>
          <a:p>
            <a:r>
              <a:rPr lang="en-US" dirty="0"/>
              <a:t>Difficult to generate reports and statistics.</a:t>
            </a:r>
          </a:p>
          <a:p>
            <a:pPr marL="0" indent="0">
              <a:buNone/>
            </a:pPr>
            <a:endParaRPr lang="en-IN" dirty="0"/>
          </a:p>
        </p:txBody>
      </p:sp>
      <p:pic>
        <p:nvPicPr>
          <p:cNvPr id="4" name="Picture 3">
            <a:extLst>
              <a:ext uri="{FF2B5EF4-FFF2-40B4-BE49-F238E27FC236}">
                <a16:creationId xmlns:a16="http://schemas.microsoft.com/office/drawing/2014/main" id="{9C591675-2DFB-1EB8-EC56-4C6A0504591A}"/>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3160597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C6DC5-7358-0534-013C-A1FDB9E20C73}"/>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22B90DC2-5304-66ED-17F5-75CF5F11BF24}"/>
              </a:ext>
            </a:extLst>
          </p:cNvPr>
          <p:cNvSpPr>
            <a:spLocks noGrp="1"/>
          </p:cNvSpPr>
          <p:nvPr>
            <p:ph idx="1"/>
          </p:nvPr>
        </p:nvSpPr>
        <p:spPr/>
        <p:txBody>
          <a:bodyPr/>
          <a:lstStyle/>
          <a:p>
            <a:r>
              <a:rPr lang="en-US" dirty="0"/>
              <a:t>A web-based application to manage library resources.</a:t>
            </a:r>
          </a:p>
          <a:p>
            <a:r>
              <a:rPr lang="en-US" dirty="0"/>
              <a:t>Allows users to search books by title, author, or genre.</a:t>
            </a:r>
          </a:p>
          <a:p>
            <a:r>
              <a:rPr lang="en-US" dirty="0"/>
              <a:t>Provides catalog view of all available books.</a:t>
            </a:r>
          </a:p>
          <a:p>
            <a:r>
              <a:rPr lang="en-US" dirty="0"/>
              <a:t>Enables book borrowing and return tracking.</a:t>
            </a:r>
          </a:p>
          <a:p>
            <a:r>
              <a:rPr lang="en-US" dirty="0"/>
              <a:t>Maintains borrow records and member details.</a:t>
            </a:r>
          </a:p>
          <a:p>
            <a:r>
              <a:rPr lang="en-US" dirty="0"/>
              <a:t>Provides real-time statistics and updates.</a:t>
            </a:r>
          </a:p>
          <a:p>
            <a:endParaRPr lang="en-IN" dirty="0"/>
          </a:p>
        </p:txBody>
      </p:sp>
      <p:pic>
        <p:nvPicPr>
          <p:cNvPr id="4" name="Picture 3">
            <a:extLst>
              <a:ext uri="{FF2B5EF4-FFF2-40B4-BE49-F238E27FC236}">
                <a16:creationId xmlns:a16="http://schemas.microsoft.com/office/drawing/2014/main" id="{941714CF-CC6D-8208-86D7-BAB67AE306F9}"/>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2451861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0264" y="658760"/>
            <a:ext cx="7055380" cy="877431"/>
          </a:xfrm>
        </p:spPr>
        <p:txBody>
          <a:bodyPr>
            <a:normAutofit fontScale="90000"/>
          </a:bodyPr>
          <a:lstStyle/>
          <a:p>
            <a:r>
              <a:rPr lang="en-IN" sz="3600" dirty="0"/>
              <a:t>Project Details</a:t>
            </a:r>
            <a:br>
              <a:rPr lang="en-IN" sz="3600" dirty="0"/>
            </a:br>
            <a:endParaRPr sz="3600" dirty="0"/>
          </a:p>
        </p:txBody>
      </p:sp>
      <p:sp>
        <p:nvSpPr>
          <p:cNvPr id="3" name="Content Placeholder 2"/>
          <p:cNvSpPr>
            <a:spLocks noGrp="1"/>
          </p:cNvSpPr>
          <p:nvPr>
            <p:ph idx="1"/>
          </p:nvPr>
        </p:nvSpPr>
        <p:spPr>
          <a:xfrm>
            <a:off x="480060" y="2241754"/>
            <a:ext cx="8183879" cy="3359809"/>
          </a:xfrm>
        </p:spPr>
        <p:txBody>
          <a:bodyPr>
            <a:normAutofit/>
          </a:bodyPr>
          <a:lstStyle/>
          <a:p>
            <a:r>
              <a:rPr lang="en-US" sz="2400" dirty="0"/>
              <a:t>Search books by title, author, or category</a:t>
            </a:r>
          </a:p>
          <a:p>
            <a:r>
              <a:rPr lang="en-US" sz="2400" dirty="0"/>
              <a:t>• Borrow and return books</a:t>
            </a:r>
          </a:p>
          <a:p>
            <a:r>
              <a:rPr lang="en-US" sz="2400" dirty="0"/>
              <a:t>• Admin can add or remove books</a:t>
            </a:r>
          </a:p>
          <a:p>
            <a:r>
              <a:rPr lang="en-US" sz="2400" dirty="0"/>
              <a:t>• Maintain records of borrowed books</a:t>
            </a:r>
          </a:p>
          <a:p>
            <a:r>
              <a:rPr lang="en-US" sz="2400" dirty="0"/>
              <a:t>• Display book availability status</a:t>
            </a:r>
          </a:p>
          <a:p>
            <a:pPr marL="0" indent="0">
              <a:buNone/>
            </a:pPr>
            <a:br>
              <a:rPr lang="en-IN" sz="2400" dirty="0"/>
            </a:br>
            <a:endParaRPr sz="2400" dirty="0"/>
          </a:p>
        </p:txBody>
      </p:sp>
      <p:pic>
        <p:nvPicPr>
          <p:cNvPr id="4" name="Picture 3">
            <a:extLst>
              <a:ext uri="{FF2B5EF4-FFF2-40B4-BE49-F238E27FC236}">
                <a16:creationId xmlns:a16="http://schemas.microsoft.com/office/drawing/2014/main" id="{B83A7412-6324-CD81-6704-F5EFB69A9B52}"/>
              </a:ext>
            </a:extLst>
          </p:cNvPr>
          <p:cNvPicPr>
            <a:picLocks noChangeAspect="1"/>
          </p:cNvPicPr>
          <p:nvPr/>
        </p:nvPicPr>
        <p:blipFill>
          <a:blip r:embed="rId2"/>
          <a:stretch>
            <a:fillRect/>
          </a:stretch>
        </p:blipFill>
        <p:spPr>
          <a:xfrm>
            <a:off x="7077140" y="-261"/>
            <a:ext cx="2066925" cy="1409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831" y="1406987"/>
            <a:ext cx="6589199" cy="1280890"/>
          </a:xfrm>
        </p:spPr>
        <p:txBody>
          <a:bodyPr>
            <a:normAutofit/>
          </a:bodyPr>
          <a:lstStyle/>
          <a:p>
            <a:r>
              <a:rPr lang="en-IN" sz="4400" dirty="0"/>
              <a:t>Software Requirements</a:t>
            </a:r>
            <a:endParaRPr sz="4400" dirty="0"/>
          </a:p>
        </p:txBody>
      </p:sp>
      <p:sp>
        <p:nvSpPr>
          <p:cNvPr id="3" name="Content Placeholder 2"/>
          <p:cNvSpPr>
            <a:spLocks noGrp="1"/>
          </p:cNvSpPr>
          <p:nvPr>
            <p:ph idx="1"/>
          </p:nvPr>
        </p:nvSpPr>
        <p:spPr>
          <a:xfrm>
            <a:off x="438661" y="2518593"/>
            <a:ext cx="6990186" cy="3304134"/>
          </a:xfrm>
        </p:spPr>
        <p:txBody>
          <a:bodyPr/>
          <a:lstStyle/>
          <a:p>
            <a:r>
              <a:rPr lang="en-IN" sz="2400" dirty="0"/>
              <a:t>Front End Technologies:</a:t>
            </a:r>
          </a:p>
          <a:p>
            <a:r>
              <a:rPr lang="en-IN" sz="2400" dirty="0"/>
              <a:t>HTML, CSS, JavaScript</a:t>
            </a:r>
          </a:p>
          <a:p>
            <a:endParaRPr lang="en-IN" sz="2400" dirty="0"/>
          </a:p>
          <a:p>
            <a:r>
              <a:rPr lang="en-IN" sz="2400" dirty="0"/>
              <a:t>Back End Technologies:</a:t>
            </a:r>
          </a:p>
          <a:p>
            <a:r>
              <a:rPr lang="en-IN" sz="2400" dirty="0"/>
              <a:t>Java, MySQL / Oracle, Tomcat Server</a:t>
            </a:r>
          </a:p>
          <a:p>
            <a:endParaRPr sz="1200" dirty="0"/>
          </a:p>
        </p:txBody>
      </p:sp>
      <p:pic>
        <p:nvPicPr>
          <p:cNvPr id="4" name="Picture 3">
            <a:extLst>
              <a:ext uri="{FF2B5EF4-FFF2-40B4-BE49-F238E27FC236}">
                <a16:creationId xmlns:a16="http://schemas.microsoft.com/office/drawing/2014/main" id="{7BDC8194-E859-7D91-AB1E-2889CCEF69F6}"/>
              </a:ext>
            </a:extLst>
          </p:cNvPr>
          <p:cNvPicPr>
            <a:picLocks noChangeAspect="1"/>
          </p:cNvPicPr>
          <p:nvPr/>
        </p:nvPicPr>
        <p:blipFill>
          <a:blip r:embed="rId2"/>
          <a:stretch>
            <a:fillRect/>
          </a:stretch>
        </p:blipFill>
        <p:spPr>
          <a:xfrm>
            <a:off x="7077140" y="-261"/>
            <a:ext cx="2066925" cy="1409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2957-002A-A7AE-3B52-7F844905720D}"/>
              </a:ext>
            </a:extLst>
          </p:cNvPr>
          <p:cNvSpPr>
            <a:spLocks noGrp="1"/>
          </p:cNvSpPr>
          <p:nvPr>
            <p:ph type="title"/>
          </p:nvPr>
        </p:nvSpPr>
        <p:spPr>
          <a:xfrm>
            <a:off x="562593" y="1883079"/>
            <a:ext cx="6518787" cy="624840"/>
          </a:xfrm>
        </p:spPr>
        <p:txBody>
          <a:bodyPr>
            <a:normAutofit fontScale="90000"/>
          </a:bodyPr>
          <a:lstStyle/>
          <a:p>
            <a:r>
              <a:rPr lang="en-IN" sz="4400" dirty="0"/>
              <a:t>Hardware Requirements</a:t>
            </a:r>
          </a:p>
        </p:txBody>
      </p:sp>
      <p:sp>
        <p:nvSpPr>
          <p:cNvPr id="3" name="Content Placeholder 2">
            <a:extLst>
              <a:ext uri="{FF2B5EF4-FFF2-40B4-BE49-F238E27FC236}">
                <a16:creationId xmlns:a16="http://schemas.microsoft.com/office/drawing/2014/main" id="{B136C8C9-A92D-E04D-4AAA-2C61453C0A78}"/>
              </a:ext>
            </a:extLst>
          </p:cNvPr>
          <p:cNvSpPr>
            <a:spLocks noGrp="1"/>
          </p:cNvSpPr>
          <p:nvPr>
            <p:ph idx="1"/>
          </p:nvPr>
        </p:nvSpPr>
        <p:spPr>
          <a:xfrm>
            <a:off x="457200" y="3020652"/>
            <a:ext cx="7772400" cy="3459481"/>
          </a:xfrm>
        </p:spPr>
        <p:txBody>
          <a:bodyPr>
            <a:normAutofit/>
          </a:bodyPr>
          <a:lstStyle/>
          <a:p>
            <a:r>
              <a:rPr lang="en-IN" sz="2400" dirty="0"/>
              <a:t>Processor: Intel i3 or higher</a:t>
            </a:r>
          </a:p>
          <a:p>
            <a:r>
              <a:rPr lang="en-IN" sz="2400" dirty="0"/>
              <a:t>RAM: Minimum 4GB</a:t>
            </a:r>
          </a:p>
          <a:p>
            <a:r>
              <a:rPr lang="en-IN" sz="2400" dirty="0"/>
              <a:t>Storage: 500GB</a:t>
            </a:r>
          </a:p>
          <a:p>
            <a:r>
              <a:rPr lang="en-IN" sz="2400" dirty="0"/>
              <a:t>System: Laptop/Desktop</a:t>
            </a:r>
          </a:p>
          <a:p>
            <a:r>
              <a:rPr lang="en-IN" sz="2400" dirty="0"/>
              <a:t>Internet Connection</a:t>
            </a:r>
          </a:p>
        </p:txBody>
      </p:sp>
      <p:pic>
        <p:nvPicPr>
          <p:cNvPr id="4" name="Picture 3">
            <a:extLst>
              <a:ext uri="{FF2B5EF4-FFF2-40B4-BE49-F238E27FC236}">
                <a16:creationId xmlns:a16="http://schemas.microsoft.com/office/drawing/2014/main" id="{7F2AC03D-0DEB-0C57-4713-2F97A06C6903}"/>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1453629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CD531-990A-A1E3-C90E-EB2C73B1FC4F}"/>
              </a:ext>
            </a:extLst>
          </p:cNvPr>
          <p:cNvSpPr>
            <a:spLocks noGrp="1"/>
          </p:cNvSpPr>
          <p:nvPr>
            <p:ph type="title"/>
          </p:nvPr>
        </p:nvSpPr>
        <p:spPr>
          <a:xfrm>
            <a:off x="674858" y="1313042"/>
            <a:ext cx="6951406" cy="1280890"/>
          </a:xfrm>
        </p:spPr>
        <p:txBody>
          <a:bodyPr>
            <a:normAutofit/>
          </a:bodyPr>
          <a:lstStyle/>
          <a:p>
            <a:r>
              <a:rPr lang="en-IN" sz="3600" dirty="0"/>
              <a:t>Project Requirements and Design</a:t>
            </a:r>
          </a:p>
        </p:txBody>
      </p:sp>
      <p:sp>
        <p:nvSpPr>
          <p:cNvPr id="3" name="Content Placeholder 2">
            <a:extLst>
              <a:ext uri="{FF2B5EF4-FFF2-40B4-BE49-F238E27FC236}">
                <a16:creationId xmlns:a16="http://schemas.microsoft.com/office/drawing/2014/main" id="{F49498F2-F9B3-DFD1-B845-16EEC508D014}"/>
              </a:ext>
            </a:extLst>
          </p:cNvPr>
          <p:cNvSpPr>
            <a:spLocks noGrp="1"/>
          </p:cNvSpPr>
          <p:nvPr>
            <p:ph idx="1"/>
          </p:nvPr>
        </p:nvSpPr>
        <p:spPr>
          <a:xfrm>
            <a:off x="446762" y="2756728"/>
            <a:ext cx="7772400" cy="4401311"/>
          </a:xfrm>
        </p:spPr>
        <p:txBody>
          <a:bodyPr>
            <a:normAutofit/>
          </a:bodyPr>
          <a:lstStyle/>
          <a:p>
            <a:r>
              <a:rPr lang="en-IN" sz="2400" dirty="0"/>
              <a:t>Architecture Types:</a:t>
            </a:r>
          </a:p>
          <a:p>
            <a:r>
              <a:rPr lang="en-IN" sz="2400" dirty="0"/>
              <a:t>2‑Tier Architecture (Front End + Back End)</a:t>
            </a:r>
          </a:p>
          <a:p>
            <a:r>
              <a:rPr lang="en-IN" sz="2400" dirty="0"/>
              <a:t>3‑Tier Architecture (Front End + Application Server + Database)</a:t>
            </a:r>
          </a:p>
          <a:p>
            <a:endParaRPr lang="en-IN" sz="2400" dirty="0"/>
          </a:p>
          <a:p>
            <a:r>
              <a:rPr lang="en-IN" sz="2400" dirty="0"/>
              <a:t>Front End: HTML, CSS, JavaScript</a:t>
            </a:r>
          </a:p>
          <a:p>
            <a:r>
              <a:rPr lang="en-IN" sz="2400" dirty="0"/>
              <a:t>Back End: Server with Java</a:t>
            </a:r>
          </a:p>
          <a:p>
            <a:r>
              <a:rPr lang="en-IN" sz="2400" dirty="0"/>
              <a:t>Database: MySQL / Oracle</a:t>
            </a:r>
          </a:p>
        </p:txBody>
      </p:sp>
      <p:pic>
        <p:nvPicPr>
          <p:cNvPr id="4" name="Picture 3">
            <a:extLst>
              <a:ext uri="{FF2B5EF4-FFF2-40B4-BE49-F238E27FC236}">
                <a16:creationId xmlns:a16="http://schemas.microsoft.com/office/drawing/2014/main" id="{54A4F8AA-14E7-B950-108F-2E7E1CA7F63A}"/>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763853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917DC-67F4-45D5-F8F4-398FF118DA32}"/>
              </a:ext>
            </a:extLst>
          </p:cNvPr>
          <p:cNvSpPr>
            <a:spLocks noGrp="1"/>
          </p:cNvSpPr>
          <p:nvPr>
            <p:ph type="title"/>
          </p:nvPr>
        </p:nvSpPr>
        <p:spPr>
          <a:xfrm>
            <a:off x="922242" y="1302603"/>
            <a:ext cx="6589199" cy="1280890"/>
          </a:xfrm>
        </p:spPr>
        <p:txBody>
          <a:bodyPr/>
          <a:lstStyle/>
          <a:p>
            <a:r>
              <a:rPr lang="en-IN" dirty="0"/>
              <a:t>Project Modules</a:t>
            </a:r>
          </a:p>
        </p:txBody>
      </p:sp>
      <p:sp>
        <p:nvSpPr>
          <p:cNvPr id="5" name="Rectangle 2">
            <a:extLst>
              <a:ext uri="{FF2B5EF4-FFF2-40B4-BE49-F238E27FC236}">
                <a16:creationId xmlns:a16="http://schemas.microsoft.com/office/drawing/2014/main" id="{72ED4478-0459-E036-EDDE-9D8CDA74A099}"/>
              </a:ext>
            </a:extLst>
          </p:cNvPr>
          <p:cNvSpPr>
            <a:spLocks noGrp="1" noChangeArrowheads="1"/>
          </p:cNvSpPr>
          <p:nvPr>
            <p:ph idx="1"/>
          </p:nvPr>
        </p:nvSpPr>
        <p:spPr bwMode="auto">
          <a:xfrm>
            <a:off x="806102" y="2575394"/>
            <a:ext cx="633538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Home Dashboard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Displays statistics and recently added books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Book Catalog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Shows all books in the library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Borrow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Allows members to borrow books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Borrow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Stores all borrow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Add Book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Allows librarian to add new books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A37E7388-1DF7-2C3C-A95F-3E867A6E9E07}"/>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3195881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F668-4C1E-E1FF-5F2B-FBEACE6E87DB}"/>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DD584B34-8A25-E5D1-CB95-8CFDCB980877}"/>
              </a:ext>
            </a:extLst>
          </p:cNvPr>
          <p:cNvSpPr>
            <a:spLocks noGrp="1"/>
          </p:cNvSpPr>
          <p:nvPr>
            <p:ph idx="1"/>
          </p:nvPr>
        </p:nvSpPr>
        <p:spPr/>
        <p:txBody>
          <a:bodyPr>
            <a:normAutofit lnSpcReduction="10000"/>
          </a:bodyPr>
          <a:lstStyle/>
          <a:p>
            <a:r>
              <a:rPr lang="en-US" sz="2400" dirty="0"/>
              <a:t>To develop a user-friendly library management system.</a:t>
            </a:r>
          </a:p>
          <a:p>
            <a:r>
              <a:rPr lang="en-US" sz="2400" dirty="0"/>
              <a:t>To simplify book searching and borrowing.</a:t>
            </a:r>
          </a:p>
          <a:p>
            <a:r>
              <a:rPr lang="en-US" sz="2400" dirty="0"/>
              <a:t>To maintain accurate records of books and members.</a:t>
            </a:r>
          </a:p>
          <a:p>
            <a:r>
              <a:rPr lang="en-US" sz="2400" dirty="0"/>
              <a:t>To reduce manual work and errors.</a:t>
            </a:r>
          </a:p>
          <a:p>
            <a:r>
              <a:rPr lang="en-US" sz="2400" dirty="0"/>
              <a:t>To improve resource management efficiency.</a:t>
            </a:r>
          </a:p>
          <a:p>
            <a:endParaRPr lang="en-IN" dirty="0"/>
          </a:p>
        </p:txBody>
      </p:sp>
      <p:pic>
        <p:nvPicPr>
          <p:cNvPr id="4" name="Picture 3">
            <a:extLst>
              <a:ext uri="{FF2B5EF4-FFF2-40B4-BE49-F238E27FC236}">
                <a16:creationId xmlns:a16="http://schemas.microsoft.com/office/drawing/2014/main" id="{6B8B1172-C7D2-C114-1E00-D2E89AA3D6B9}"/>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476180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DA61-BEF7-CFD0-AD0C-74C34B56CB07}"/>
              </a:ext>
            </a:extLst>
          </p:cNvPr>
          <p:cNvSpPr>
            <a:spLocks noGrp="1"/>
          </p:cNvSpPr>
          <p:nvPr>
            <p:ph type="title"/>
          </p:nvPr>
        </p:nvSpPr>
        <p:spPr>
          <a:xfrm>
            <a:off x="1277146" y="1406987"/>
            <a:ext cx="6589199" cy="1280890"/>
          </a:xfrm>
        </p:spPr>
        <p:txBody>
          <a:bodyPr/>
          <a:lstStyle/>
          <a:p>
            <a:r>
              <a:rPr lang="en-IN" dirty="0"/>
              <a:t>CO’s Attainments – FWD</a:t>
            </a:r>
          </a:p>
        </p:txBody>
      </p:sp>
      <p:sp>
        <p:nvSpPr>
          <p:cNvPr id="3" name="Content Placeholder 2">
            <a:extLst>
              <a:ext uri="{FF2B5EF4-FFF2-40B4-BE49-F238E27FC236}">
                <a16:creationId xmlns:a16="http://schemas.microsoft.com/office/drawing/2014/main" id="{4DBCC384-60B8-1756-3276-8BA1E6AD5345}"/>
              </a:ext>
            </a:extLst>
          </p:cNvPr>
          <p:cNvSpPr>
            <a:spLocks noGrp="1"/>
          </p:cNvSpPr>
          <p:nvPr>
            <p:ph idx="1"/>
          </p:nvPr>
        </p:nvSpPr>
        <p:spPr/>
        <p:txBody>
          <a:bodyPr>
            <a:normAutofit lnSpcReduction="10000"/>
          </a:bodyPr>
          <a:lstStyle/>
          <a:p>
            <a:r>
              <a:rPr lang="en-IN" b="1" dirty="0"/>
              <a:t>CO1</a:t>
            </a:r>
            <a:endParaRPr lang="en-IN" dirty="0"/>
          </a:p>
          <a:p>
            <a:r>
              <a:rPr lang="en-IN" dirty="0"/>
              <a:t>Understand HTML structure and semantic tags.</a:t>
            </a:r>
          </a:p>
          <a:p>
            <a:r>
              <a:rPr lang="en-IN" b="1" dirty="0"/>
              <a:t>CO2</a:t>
            </a:r>
            <a:endParaRPr lang="en-IN" dirty="0"/>
          </a:p>
          <a:p>
            <a:r>
              <a:rPr lang="en-IN" dirty="0"/>
              <a:t>Apply CSS layouts, Flexbox, Grid, and animations.</a:t>
            </a:r>
          </a:p>
          <a:p>
            <a:r>
              <a:rPr lang="en-IN" b="1" dirty="0"/>
              <a:t>CO3</a:t>
            </a:r>
            <a:endParaRPr lang="en-IN" dirty="0"/>
          </a:p>
          <a:p>
            <a:r>
              <a:rPr lang="en-IN" dirty="0"/>
              <a:t>Implement JavaScript objects, arrays, and functions.</a:t>
            </a:r>
          </a:p>
          <a:p>
            <a:r>
              <a:rPr lang="en-IN" b="1" dirty="0"/>
              <a:t>CO4</a:t>
            </a:r>
            <a:endParaRPr lang="en-IN" dirty="0"/>
          </a:p>
          <a:p>
            <a:r>
              <a:rPr lang="en-IN" dirty="0"/>
              <a:t>Perform DOM manipulation and event handling.</a:t>
            </a:r>
          </a:p>
          <a:p>
            <a:r>
              <a:rPr lang="en-IN" b="1" dirty="0"/>
              <a:t>CO5</a:t>
            </a:r>
            <a:endParaRPr lang="en-IN" dirty="0"/>
          </a:p>
          <a:p>
            <a:r>
              <a:rPr lang="en-IN" dirty="0"/>
              <a:t>Implement form validation and browser storage.</a:t>
            </a:r>
          </a:p>
          <a:p>
            <a:endParaRPr lang="en-IN" dirty="0"/>
          </a:p>
        </p:txBody>
      </p:sp>
      <p:pic>
        <p:nvPicPr>
          <p:cNvPr id="4" name="Picture 3">
            <a:extLst>
              <a:ext uri="{FF2B5EF4-FFF2-40B4-BE49-F238E27FC236}">
                <a16:creationId xmlns:a16="http://schemas.microsoft.com/office/drawing/2014/main" id="{23EECF5C-20A4-6214-2953-B56C0ECDF76C}"/>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273927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B0AD6-15E4-AA76-97E2-2E876602D4A8}"/>
              </a:ext>
            </a:extLst>
          </p:cNvPr>
          <p:cNvSpPr>
            <a:spLocks noGrp="1"/>
          </p:cNvSpPr>
          <p:nvPr>
            <p:ph type="title"/>
          </p:nvPr>
        </p:nvSpPr>
        <p:spPr>
          <a:xfrm>
            <a:off x="1151886" y="1354795"/>
            <a:ext cx="6589199" cy="1280890"/>
          </a:xfrm>
        </p:spPr>
        <p:txBody>
          <a:bodyPr/>
          <a:lstStyle/>
          <a:p>
            <a:r>
              <a:rPr lang="en-IN" dirty="0"/>
              <a:t>CO’s Attainments – DSA</a:t>
            </a:r>
          </a:p>
        </p:txBody>
      </p:sp>
      <p:sp>
        <p:nvSpPr>
          <p:cNvPr id="3" name="Content Placeholder 2">
            <a:extLst>
              <a:ext uri="{FF2B5EF4-FFF2-40B4-BE49-F238E27FC236}">
                <a16:creationId xmlns:a16="http://schemas.microsoft.com/office/drawing/2014/main" id="{ADF175B6-8408-A25E-2930-23F28380C5A9}"/>
              </a:ext>
            </a:extLst>
          </p:cNvPr>
          <p:cNvSpPr>
            <a:spLocks noGrp="1"/>
          </p:cNvSpPr>
          <p:nvPr>
            <p:ph idx="1"/>
          </p:nvPr>
        </p:nvSpPr>
        <p:spPr>
          <a:xfrm>
            <a:off x="1149100" y="2206668"/>
            <a:ext cx="6591985" cy="3777622"/>
          </a:xfrm>
        </p:spPr>
        <p:txBody>
          <a:bodyPr>
            <a:normAutofit/>
          </a:bodyPr>
          <a:lstStyle/>
          <a:p>
            <a:r>
              <a:rPr lang="en-IN" sz="2400" b="1" dirty="0"/>
              <a:t>CO1 </a:t>
            </a:r>
            <a:r>
              <a:rPr lang="en-IN" sz="2400" dirty="0"/>
              <a:t>— </a:t>
            </a:r>
            <a:r>
              <a:rPr lang="en-IN" sz="2400" dirty="0" err="1"/>
              <a:t>Catalog</a:t>
            </a:r>
            <a:r>
              <a:rPr lang="en-IN" sz="2400" dirty="0"/>
              <a:t> &amp; Search + Sorting Visualizer</a:t>
            </a:r>
          </a:p>
          <a:p>
            <a:r>
              <a:rPr lang="en-IN" sz="2400" b="1" dirty="0"/>
              <a:t>CO2 </a:t>
            </a:r>
            <a:r>
              <a:rPr lang="en-IN" sz="2400" dirty="0"/>
              <a:t>— Linked List ADT</a:t>
            </a:r>
          </a:p>
          <a:p>
            <a:pPr marL="0" indent="0">
              <a:buNone/>
            </a:pPr>
            <a:endParaRPr lang="en-IN" sz="2400" dirty="0"/>
          </a:p>
          <a:p>
            <a:r>
              <a:rPr lang="en-IN" sz="2400" b="1" dirty="0"/>
              <a:t>CO3 </a:t>
            </a:r>
            <a:r>
              <a:rPr lang="en-IN" sz="2400" dirty="0"/>
              <a:t>— Stack, Queue, Heap</a:t>
            </a:r>
          </a:p>
          <a:p>
            <a:pPr marL="0" indent="0">
              <a:buNone/>
            </a:pPr>
            <a:endParaRPr lang="en-IN" sz="2400" dirty="0"/>
          </a:p>
          <a:p>
            <a:r>
              <a:rPr lang="en-IN" sz="2400" b="1" dirty="0"/>
              <a:t>CO4 </a:t>
            </a:r>
            <a:r>
              <a:rPr lang="en-IN" sz="2400" dirty="0"/>
              <a:t>— Hash Table &amp; Collections</a:t>
            </a:r>
          </a:p>
        </p:txBody>
      </p:sp>
      <p:pic>
        <p:nvPicPr>
          <p:cNvPr id="4" name="Picture 3">
            <a:extLst>
              <a:ext uri="{FF2B5EF4-FFF2-40B4-BE49-F238E27FC236}">
                <a16:creationId xmlns:a16="http://schemas.microsoft.com/office/drawing/2014/main" id="{2D4A46A3-11ED-6208-6A9B-9427A5C8578D}"/>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3942227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221CB-D9BE-CE80-FEAA-A4C2FA03C74D}"/>
              </a:ext>
            </a:extLst>
          </p:cNvPr>
          <p:cNvSpPr>
            <a:spLocks noGrp="1"/>
          </p:cNvSpPr>
          <p:nvPr>
            <p:ph type="title"/>
          </p:nvPr>
        </p:nvSpPr>
        <p:spPr/>
        <p:txBody>
          <a:bodyPr/>
          <a:lstStyle/>
          <a:p>
            <a:r>
              <a:rPr lang="en-IN" dirty="0"/>
              <a:t>System Architecture</a:t>
            </a:r>
            <a:br>
              <a:rPr lang="en-IN" b="1" dirty="0"/>
            </a:br>
            <a:endParaRPr lang="en-IN" dirty="0"/>
          </a:p>
        </p:txBody>
      </p:sp>
      <p:sp>
        <p:nvSpPr>
          <p:cNvPr id="4" name="Rectangle 1">
            <a:extLst>
              <a:ext uri="{FF2B5EF4-FFF2-40B4-BE49-F238E27FC236}">
                <a16:creationId xmlns:a16="http://schemas.microsoft.com/office/drawing/2014/main" id="{F159BFDF-B472-8789-F041-8208FE810B3C}"/>
              </a:ext>
            </a:extLst>
          </p:cNvPr>
          <p:cNvSpPr>
            <a:spLocks noGrp="1" noChangeArrowheads="1"/>
          </p:cNvSpPr>
          <p:nvPr>
            <p:ph idx="1"/>
          </p:nvPr>
        </p:nvSpPr>
        <p:spPr bwMode="auto">
          <a:xfrm>
            <a:off x="628650" y="1785303"/>
            <a:ext cx="6881622"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User Interface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HTML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CSS styling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Responsive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Application Logic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JavaScript functions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DOM manipulation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Form validation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Data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err="1">
                <a:ln>
                  <a:noFill/>
                </a:ln>
                <a:solidFill>
                  <a:schemeClr val="tx1"/>
                </a:solidFill>
                <a:effectLst/>
                <a:latin typeface="Arial" panose="020B0604020202020204" pitchFamily="34" charset="0"/>
              </a:rPr>
              <a:t>LocalStorage</a:t>
            </a:r>
            <a:r>
              <a:rPr kumimoji="0" lang="en-US" altLang="en-US" sz="2400" i="0" u="none" strike="noStrike" cap="none" normalizeH="0" baseline="0" dirty="0">
                <a:ln>
                  <a:noFill/>
                </a:ln>
                <a:solidFill>
                  <a:schemeClr val="tx1"/>
                </a:solidFill>
                <a:effectLst/>
                <a:latin typeface="Arial" panose="020B0604020202020204" pitchFamily="34" charset="0"/>
              </a:rPr>
              <a:t> for storing books and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Arrays and objects for data handling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2859D44D-BF13-8D99-7B67-1109F5632983}"/>
              </a:ext>
            </a:extLst>
          </p:cNvPr>
          <p:cNvPicPr>
            <a:picLocks noChangeAspect="1"/>
          </p:cNvPicPr>
          <p:nvPr/>
        </p:nvPicPr>
        <p:blipFill>
          <a:blip r:embed="rId2"/>
          <a:stretch>
            <a:fillRect/>
          </a:stretch>
        </p:blipFill>
        <p:spPr>
          <a:xfrm>
            <a:off x="7077140" y="-261"/>
            <a:ext cx="2066925" cy="1409700"/>
          </a:xfrm>
          <a:prstGeom prst="rect">
            <a:avLst/>
          </a:prstGeom>
        </p:spPr>
      </p:pic>
    </p:spTree>
    <p:extLst>
      <p:ext uri="{BB962C8B-B14F-4D97-AF65-F5344CB8AC3E}">
        <p14:creationId xmlns:p14="http://schemas.microsoft.com/office/powerpoint/2010/main" val="3798824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6" y="0"/>
            <a:ext cx="7183474" cy="868680"/>
          </a:xfrm>
        </p:spPr>
        <p:txBody>
          <a:bodyPr/>
          <a:lstStyle/>
          <a:p>
            <a:r>
              <a:rPr lang="en-IN" sz="4400" dirty="0"/>
              <a:t>System Architecture</a:t>
            </a:r>
            <a:endParaRPr sz="4400" dirty="0"/>
          </a:p>
        </p:txBody>
      </p:sp>
      <p:pic>
        <p:nvPicPr>
          <p:cNvPr id="4" name="Content Placeholder 3">
            <a:extLst>
              <a:ext uri="{FF2B5EF4-FFF2-40B4-BE49-F238E27FC236}">
                <a16:creationId xmlns:a16="http://schemas.microsoft.com/office/drawing/2014/main" id="{721F0BDF-71AE-CEE2-032F-34E2D59D28CD}"/>
              </a:ext>
            </a:extLst>
          </p:cNvPr>
          <p:cNvPicPr>
            <a:picLocks noGrp="1" noChangeAspect="1"/>
          </p:cNvPicPr>
          <p:nvPr>
            <p:ph idx="1"/>
          </p:nvPr>
        </p:nvPicPr>
        <p:blipFill>
          <a:blip r:embed="rId2"/>
          <a:stretch>
            <a:fillRect/>
          </a:stretch>
        </p:blipFill>
        <p:spPr>
          <a:xfrm>
            <a:off x="3597974" y="3172206"/>
            <a:ext cx="2066925" cy="1409700"/>
          </a:xfrm>
          <a:prstGeom prst="rect">
            <a:avLst/>
          </a:prstGeom>
        </p:spPr>
      </p:pic>
      <p:pic>
        <p:nvPicPr>
          <p:cNvPr id="5" name="Picture 4">
            <a:extLst>
              <a:ext uri="{FF2B5EF4-FFF2-40B4-BE49-F238E27FC236}">
                <a16:creationId xmlns:a16="http://schemas.microsoft.com/office/drawing/2014/main" id="{E479060F-7CDB-2F2B-7DAD-72C82664A315}"/>
              </a:ext>
            </a:extLst>
          </p:cNvPr>
          <p:cNvPicPr>
            <a:picLocks noChangeAspect="1"/>
          </p:cNvPicPr>
          <p:nvPr/>
        </p:nvPicPr>
        <p:blipFill>
          <a:blip r:embed="rId3"/>
          <a:stretch>
            <a:fillRect/>
          </a:stretch>
        </p:blipFill>
        <p:spPr>
          <a:xfrm>
            <a:off x="261882" y="1372727"/>
            <a:ext cx="8739108" cy="5480528"/>
          </a:xfrm>
          <a:prstGeom prst="rect">
            <a:avLst/>
          </a:prstGeom>
        </p:spPr>
      </p:pic>
      <p:pic>
        <p:nvPicPr>
          <p:cNvPr id="6" name="Picture 5">
            <a:extLst>
              <a:ext uri="{FF2B5EF4-FFF2-40B4-BE49-F238E27FC236}">
                <a16:creationId xmlns:a16="http://schemas.microsoft.com/office/drawing/2014/main" id="{04126B77-8F35-52E8-2BEE-B9F821359A5C}"/>
              </a:ext>
            </a:extLst>
          </p:cNvPr>
          <p:cNvPicPr>
            <a:picLocks noChangeAspect="1"/>
          </p:cNvPicPr>
          <p:nvPr/>
        </p:nvPicPr>
        <p:blipFill>
          <a:blip r:embed="rId2"/>
          <a:stretch>
            <a:fillRect/>
          </a:stretch>
        </p:blipFill>
        <p:spPr>
          <a:xfrm>
            <a:off x="7077140" y="-261"/>
            <a:ext cx="2066925" cy="1409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D6670-924B-73C1-3FB8-F1715CF67006}"/>
              </a:ext>
            </a:extLst>
          </p:cNvPr>
          <p:cNvSpPr>
            <a:spLocks noGrp="1"/>
          </p:cNvSpPr>
          <p:nvPr>
            <p:ph type="title"/>
          </p:nvPr>
        </p:nvSpPr>
        <p:spPr/>
        <p:txBody>
          <a:bodyPr/>
          <a:lstStyle/>
          <a:p>
            <a:r>
              <a:rPr lang="en-IN" dirty="0"/>
              <a:t>Screenshots for FWD</a:t>
            </a:r>
          </a:p>
        </p:txBody>
      </p:sp>
      <p:pic>
        <p:nvPicPr>
          <p:cNvPr id="5" name="Content Placeholder 4">
            <a:extLst>
              <a:ext uri="{FF2B5EF4-FFF2-40B4-BE49-F238E27FC236}">
                <a16:creationId xmlns:a16="http://schemas.microsoft.com/office/drawing/2014/main" id="{398472C6-6070-D63B-485F-0035C20503E6}"/>
              </a:ext>
            </a:extLst>
          </p:cNvPr>
          <p:cNvPicPr>
            <a:picLocks noGrp="1" noChangeAspect="1"/>
          </p:cNvPicPr>
          <p:nvPr>
            <p:ph idx="1"/>
          </p:nvPr>
        </p:nvPicPr>
        <p:blipFill>
          <a:blip r:embed="rId2"/>
          <a:stretch>
            <a:fillRect/>
          </a:stretch>
        </p:blipFill>
        <p:spPr>
          <a:xfrm>
            <a:off x="522920" y="1900388"/>
            <a:ext cx="2842136" cy="2006991"/>
          </a:xfrm>
          <a:prstGeom prst="rect">
            <a:avLst/>
          </a:prstGeom>
        </p:spPr>
      </p:pic>
      <p:pic>
        <p:nvPicPr>
          <p:cNvPr id="7" name="Picture 6">
            <a:extLst>
              <a:ext uri="{FF2B5EF4-FFF2-40B4-BE49-F238E27FC236}">
                <a16:creationId xmlns:a16="http://schemas.microsoft.com/office/drawing/2014/main" id="{6464B239-7622-0AF1-7F85-35AD75FA2527}"/>
              </a:ext>
            </a:extLst>
          </p:cNvPr>
          <p:cNvPicPr>
            <a:picLocks noChangeAspect="1"/>
          </p:cNvPicPr>
          <p:nvPr/>
        </p:nvPicPr>
        <p:blipFill>
          <a:blip r:embed="rId3"/>
          <a:stretch>
            <a:fillRect/>
          </a:stretch>
        </p:blipFill>
        <p:spPr>
          <a:xfrm>
            <a:off x="5407742" y="1531186"/>
            <a:ext cx="2979174" cy="2006990"/>
          </a:xfrm>
          <a:prstGeom prst="rect">
            <a:avLst/>
          </a:prstGeom>
        </p:spPr>
      </p:pic>
      <p:pic>
        <p:nvPicPr>
          <p:cNvPr id="9" name="Picture 8">
            <a:extLst>
              <a:ext uri="{FF2B5EF4-FFF2-40B4-BE49-F238E27FC236}">
                <a16:creationId xmlns:a16="http://schemas.microsoft.com/office/drawing/2014/main" id="{E0AE137D-9CF9-B651-F72F-0C21DEFF2780}"/>
              </a:ext>
            </a:extLst>
          </p:cNvPr>
          <p:cNvPicPr>
            <a:picLocks noChangeAspect="1"/>
          </p:cNvPicPr>
          <p:nvPr/>
        </p:nvPicPr>
        <p:blipFill>
          <a:blip r:embed="rId4"/>
          <a:stretch>
            <a:fillRect/>
          </a:stretch>
        </p:blipFill>
        <p:spPr>
          <a:xfrm>
            <a:off x="1563329" y="4416854"/>
            <a:ext cx="5584723" cy="1325564"/>
          </a:xfrm>
          <a:prstGeom prst="rect">
            <a:avLst/>
          </a:prstGeom>
        </p:spPr>
      </p:pic>
      <p:pic>
        <p:nvPicPr>
          <p:cNvPr id="3" name="Picture 2">
            <a:extLst>
              <a:ext uri="{FF2B5EF4-FFF2-40B4-BE49-F238E27FC236}">
                <a16:creationId xmlns:a16="http://schemas.microsoft.com/office/drawing/2014/main" id="{4AA05B51-5713-A3F0-F1FC-06E4520C1E3E}"/>
              </a:ext>
            </a:extLst>
          </p:cNvPr>
          <p:cNvPicPr>
            <a:picLocks noChangeAspect="1"/>
          </p:cNvPicPr>
          <p:nvPr/>
        </p:nvPicPr>
        <p:blipFill>
          <a:blip r:embed="rId5"/>
          <a:stretch>
            <a:fillRect/>
          </a:stretch>
        </p:blipFill>
        <p:spPr>
          <a:xfrm>
            <a:off x="7150208" y="-261"/>
            <a:ext cx="2066925" cy="1409700"/>
          </a:xfrm>
          <a:prstGeom prst="rect">
            <a:avLst/>
          </a:prstGeom>
        </p:spPr>
      </p:pic>
    </p:spTree>
    <p:extLst>
      <p:ext uri="{BB962C8B-B14F-4D97-AF65-F5344CB8AC3E}">
        <p14:creationId xmlns:p14="http://schemas.microsoft.com/office/powerpoint/2010/main" val="844660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A1B3F-DE1D-DEB6-B075-DC64510E4143}"/>
              </a:ext>
            </a:extLst>
          </p:cNvPr>
          <p:cNvSpPr>
            <a:spLocks noGrp="1"/>
          </p:cNvSpPr>
          <p:nvPr>
            <p:ph type="title"/>
          </p:nvPr>
        </p:nvSpPr>
        <p:spPr/>
        <p:txBody>
          <a:bodyPr>
            <a:normAutofit/>
          </a:bodyPr>
          <a:lstStyle/>
          <a:p>
            <a:r>
              <a:rPr lang="en-IN" dirty="0"/>
              <a:t>Future Enhancements</a:t>
            </a:r>
          </a:p>
        </p:txBody>
      </p:sp>
      <p:sp>
        <p:nvSpPr>
          <p:cNvPr id="4" name="Rectangle 1">
            <a:extLst>
              <a:ext uri="{FF2B5EF4-FFF2-40B4-BE49-F238E27FC236}">
                <a16:creationId xmlns:a16="http://schemas.microsoft.com/office/drawing/2014/main" id="{8A082398-6873-E4A8-A193-D1EA053D8878}"/>
              </a:ext>
            </a:extLst>
          </p:cNvPr>
          <p:cNvSpPr>
            <a:spLocks noGrp="1" noChangeArrowheads="1"/>
          </p:cNvSpPr>
          <p:nvPr>
            <p:ph idx="1"/>
          </p:nvPr>
        </p:nvSpPr>
        <p:spPr bwMode="auto">
          <a:xfrm>
            <a:off x="855405" y="1821809"/>
            <a:ext cx="767899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Integrate a database system (MySQL / MongoDB) for better data storage instead of </a:t>
            </a:r>
            <a:r>
              <a:rPr kumimoji="0" lang="en-US" altLang="en-US" sz="2000" i="0" u="none" strike="noStrike" cap="none" normalizeH="0" baseline="0" dirty="0" err="1">
                <a:ln>
                  <a:noFill/>
                </a:ln>
                <a:solidFill>
                  <a:schemeClr val="tx1"/>
                </a:solidFill>
                <a:effectLst/>
                <a:latin typeface="Arial" panose="020B0604020202020204" pitchFamily="34" charset="0"/>
              </a:rPr>
              <a:t>LocalStorage</a:t>
            </a:r>
            <a:r>
              <a:rPr kumimoji="0" lang="en-US" altLang="en-US" sz="200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Implement user authentication and login system for librarians and members.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Add barcode or QR code scanning for faster book borrowing and returning.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Develop admin dashboard for advanced book and member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Implement fine calculation system for late book returns.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Add email or SMS notifications for due date reminders.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Enable online book reservation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Convert the application into a mobile-friendly or mobile app version.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Integrate analytics and reports for library usage statistics.</a:t>
            </a:r>
          </a:p>
        </p:txBody>
      </p:sp>
      <p:pic>
        <p:nvPicPr>
          <p:cNvPr id="3" name="Picture 2">
            <a:extLst>
              <a:ext uri="{FF2B5EF4-FFF2-40B4-BE49-F238E27FC236}">
                <a16:creationId xmlns:a16="http://schemas.microsoft.com/office/drawing/2014/main" id="{0300CB50-383B-3067-478E-890383EB34EE}"/>
              </a:ext>
            </a:extLst>
          </p:cNvPr>
          <p:cNvPicPr>
            <a:picLocks noChangeAspect="1"/>
          </p:cNvPicPr>
          <p:nvPr/>
        </p:nvPicPr>
        <p:blipFill>
          <a:blip r:embed="rId2"/>
          <a:stretch>
            <a:fillRect/>
          </a:stretch>
        </p:blipFill>
        <p:spPr>
          <a:xfrm>
            <a:off x="6941441" y="114561"/>
            <a:ext cx="2066925" cy="14097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841382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0A6F-5AA5-3853-3DF4-89A9AC71277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3BE7670-1A10-7C67-AA20-094F0FF83381}"/>
              </a:ext>
            </a:extLst>
          </p:cNvPr>
          <p:cNvSpPr>
            <a:spLocks noGrp="1"/>
          </p:cNvSpPr>
          <p:nvPr>
            <p:ph idx="1"/>
          </p:nvPr>
        </p:nvSpPr>
        <p:spPr/>
        <p:txBody>
          <a:bodyPr/>
          <a:lstStyle/>
          <a:p>
            <a:r>
              <a:rPr lang="en-US" sz="2400" dirty="0"/>
              <a:t>The Library Resource Management System simplifies library operations by digitizing book search, borrowing, and record management, improving efficiency and user experience.</a:t>
            </a:r>
          </a:p>
          <a:p>
            <a:endParaRPr lang="en-IN" dirty="0"/>
          </a:p>
        </p:txBody>
      </p:sp>
      <p:pic>
        <p:nvPicPr>
          <p:cNvPr id="4" name="Picture 3">
            <a:extLst>
              <a:ext uri="{FF2B5EF4-FFF2-40B4-BE49-F238E27FC236}">
                <a16:creationId xmlns:a16="http://schemas.microsoft.com/office/drawing/2014/main" id="{E726EE09-9956-24CC-3B74-BC57DCD80506}"/>
              </a:ext>
            </a:extLst>
          </p:cNvPr>
          <p:cNvPicPr>
            <a:picLocks noChangeAspect="1"/>
          </p:cNvPicPr>
          <p:nvPr/>
        </p:nvPicPr>
        <p:blipFill>
          <a:blip r:embed="rId2"/>
          <a:stretch>
            <a:fillRect/>
          </a:stretch>
        </p:blipFill>
        <p:spPr>
          <a:xfrm>
            <a:off x="7079597" y="1121"/>
            <a:ext cx="2066925" cy="1409700"/>
          </a:xfrm>
          <a:prstGeom prst="rect">
            <a:avLst/>
          </a:prstGeom>
        </p:spPr>
      </p:pic>
    </p:spTree>
    <p:extLst>
      <p:ext uri="{BB962C8B-B14F-4D97-AF65-F5344CB8AC3E}">
        <p14:creationId xmlns:p14="http://schemas.microsoft.com/office/powerpoint/2010/main" val="1657207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E23B9-B1AA-B701-4CAF-D2BA753E2C07}"/>
              </a:ext>
            </a:extLst>
          </p:cNvPr>
          <p:cNvSpPr>
            <a:spLocks noGrp="1"/>
          </p:cNvSpPr>
          <p:nvPr>
            <p:ph type="title"/>
          </p:nvPr>
        </p:nvSpPr>
        <p:spPr/>
        <p:txBody>
          <a:bodyPr/>
          <a:lstStyle/>
          <a:p>
            <a:r>
              <a:rPr lang="en-IN"/>
              <a:t>GEO TAG Photo</a:t>
            </a:r>
            <a:endParaRPr lang="en-IN" dirty="0"/>
          </a:p>
        </p:txBody>
      </p:sp>
      <p:pic>
        <p:nvPicPr>
          <p:cNvPr id="5" name="Content Placeholder 4">
            <a:extLst>
              <a:ext uri="{FF2B5EF4-FFF2-40B4-BE49-F238E27FC236}">
                <a16:creationId xmlns:a16="http://schemas.microsoft.com/office/drawing/2014/main" id="{39EEEBC4-A80D-9BD9-B362-1BA0B8AAD306}"/>
              </a:ext>
            </a:extLst>
          </p:cNvPr>
          <p:cNvPicPr>
            <a:picLocks noGrp="1" noChangeAspect="1"/>
          </p:cNvPicPr>
          <p:nvPr>
            <p:ph idx="1"/>
          </p:nvPr>
        </p:nvPicPr>
        <p:blipFill>
          <a:blip r:embed="rId2"/>
          <a:stretch>
            <a:fillRect/>
          </a:stretch>
        </p:blipFill>
        <p:spPr>
          <a:xfrm>
            <a:off x="2719917" y="2133600"/>
            <a:ext cx="5037666" cy="3778250"/>
          </a:xfrm>
          <a:prstGeom prst="rect">
            <a:avLst/>
          </a:prstGeom>
        </p:spPr>
      </p:pic>
    </p:spTree>
    <p:extLst>
      <p:ext uri="{BB962C8B-B14F-4D97-AF65-F5344CB8AC3E}">
        <p14:creationId xmlns:p14="http://schemas.microsoft.com/office/powerpoint/2010/main" val="30098150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393</TotalTime>
  <Words>790</Words>
  <Application>Microsoft Office PowerPoint</Application>
  <PresentationFormat>On-screen Show (4:3)</PresentationFormat>
  <Paragraphs>114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Century Gothic</vt:lpstr>
      <vt:lpstr>Times New Roman</vt:lpstr>
      <vt:lpstr>Wingdings 3</vt:lpstr>
      <vt:lpstr>Wisp</vt:lpstr>
      <vt:lpstr>The Library Resource Management Application</vt:lpstr>
      <vt:lpstr>                  Abstract</vt:lpstr>
      <vt:lpstr>PowerPoint Presentation</vt:lpstr>
      <vt:lpstr>Existing System</vt:lpstr>
      <vt:lpstr>Proposed System</vt:lpstr>
      <vt:lpstr>Project Details </vt:lpstr>
      <vt:lpstr>Software Requirements</vt:lpstr>
      <vt:lpstr>Hardware Requirements</vt:lpstr>
      <vt:lpstr>Project Requirements and Design</vt:lpstr>
      <vt:lpstr>Project Modules</vt:lpstr>
      <vt:lpstr>Objectives</vt:lpstr>
      <vt:lpstr>CO’s Attainments – FWD</vt:lpstr>
      <vt:lpstr>CO’s Attainments – DSA</vt:lpstr>
      <vt:lpstr>System Architecture </vt:lpstr>
      <vt:lpstr>System Architecture</vt:lpstr>
      <vt:lpstr>Screenshots for FWD</vt:lpstr>
      <vt:lpstr>Future Enhancements</vt:lpstr>
      <vt:lpstr>Conclusion</vt:lpstr>
      <vt:lpstr>GEO TAG Photo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Prasad</dc:creator>
  <cp:keywords/>
  <dc:description>generated using python-pptx</dc:description>
  <cp:lastModifiedBy>Harsha charan Reddy</cp:lastModifiedBy>
  <cp:revision>64</cp:revision>
  <dcterms:created xsi:type="dcterms:W3CDTF">2013-01-27T09:14:16Z</dcterms:created>
  <dcterms:modified xsi:type="dcterms:W3CDTF">2026-03-07T09:25:54Z</dcterms:modified>
  <cp:category/>
</cp:coreProperties>
</file>