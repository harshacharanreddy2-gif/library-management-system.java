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22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4297680" cy="3657600"/>
          </a:xfrm>
          <a:prstGeom prst="ellipse">
            <a:avLst/>
          </a:prstGeom>
          <a:solidFill>
            <a:srgbClr val="C8A96E">
              <a:alpha val="8000"/>
            </a:srgbClr>
          </a:solidFill>
          <a:ln w="12700">
            <a:solidFill>
              <a:srgbClr val="C8A96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12344400"/>
            <a:ext cx="7040880" cy="3657600"/>
          </a:xfrm>
          <a:prstGeom prst="ellipse">
            <a:avLst/>
          </a:prstGeom>
          <a:solidFill>
            <a:srgbClr val="4A9EDA">
              <a:alpha val="8000"/>
            </a:srgbClr>
          </a:solidFill>
          <a:ln w="12700">
            <a:solidFill>
              <a:srgbClr val="4A9ED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"/>
            <a:ext cx="73152" cy="73152"/>
          </a:xfrm>
          <a:prstGeom prst="ellipse">
            <a:avLst/>
          </a:prstGeom>
          <a:solidFill>
            <a:srgbClr val="C8A96E">
              <a:alpha val="60000"/>
            </a:srgbClr>
          </a:solidFill>
          <a:ln w="12700">
            <a:solidFill>
              <a:srgbClr val="C8A96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292608"/>
            <a:ext cx="73152" cy="73152"/>
          </a:xfrm>
          <a:prstGeom prst="ellipse">
            <a:avLst/>
          </a:prstGeom>
          <a:solidFill>
            <a:srgbClr val="C8A96E">
              <a:alpha val="40000"/>
            </a:srgbClr>
          </a:solidFill>
          <a:ln w="12700">
            <a:solidFill>
              <a:srgbClr val="C8A96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493776"/>
            <a:ext cx="73152" cy="73152"/>
          </a:xfrm>
          <a:prstGeom prst="ellipse">
            <a:avLst/>
          </a:prstGeom>
          <a:solidFill>
            <a:srgbClr val="C8A96E">
              <a:alpha val="20000"/>
            </a:srgbClr>
          </a:solidFill>
          <a:ln w="12700">
            <a:solidFill>
              <a:srgbClr val="C8A96E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41417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0689336" cy="457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91440"/>
            <a:ext cx="804672" cy="804672"/>
          </a:xfrm>
          <a:prstGeom prst="ellipse">
            <a:avLst/>
          </a:prstGeom>
          <a:solidFill>
            <a:srgbClr val="1C1C22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914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📚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097280" y="73152"/>
            <a:ext cx="9409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50">
                <a:solidFill>
                  <a:srgbClr val="8A8790"/>
                </a:solidFill>
              </a:rPr>
              <a:t>KL UNIVERSITY — HYDERABAD CAMPUS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097280" y="347472"/>
            <a:ext cx="9409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>
                <a:solidFill>
                  <a:srgbClr val="C8A96E"/>
                </a:solidFill>
              </a:rPr>
              <a:t>BACHUPALLY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0" y="960120"/>
            <a:ext cx="10689336" cy="45720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10689336" cy="868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54864" cy="7132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042416"/>
            <a:ext cx="10232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>
                <a:solidFill>
                  <a:schemeClr val="bg1"/>
                </a:solidFill>
              </a:rPr>
              <a:t>The Library Resource Management Application</a:t>
            </a:r>
          </a:p>
        </p:txBody>
      </p:sp>
      <p:sp>
        <p:nvSpPr>
          <p:cNvPr id="17" name="Shape 15"/>
          <p:cNvSpPr/>
          <p:nvPr/>
        </p:nvSpPr>
        <p:spPr>
          <a:xfrm>
            <a:off x="3150108" y="1609344"/>
            <a:ext cx="4389120" cy="219456"/>
          </a:xfrm>
          <a:prstGeom prst="rect">
            <a:avLst/>
          </a:prstGeom>
          <a:solidFill>
            <a:srgbClr val="C8A96E"/>
          </a:solidFill>
          <a:ln w="12700">
            <a:solidFill>
              <a:srgbClr val="E8C9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0108" y="160934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0D0D0F"/>
                </a:solidFill>
              </a:rPr>
              <a:t>PROJECT BASED LEARNING FROM FWD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164592" y="1938528"/>
            <a:ext cx="5088636" cy="1783080"/>
          </a:xfrm>
          <a:prstGeom prst="rect">
            <a:avLst/>
          </a:prstGeom>
          <a:solidFill>
            <a:srgbClr val="141417"/>
          </a:solidFill>
          <a:ln w="12700">
            <a:solidFill>
              <a:srgbClr val="2A2A35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" y="1938528"/>
            <a:ext cx="5088636" cy="292608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938528"/>
            <a:ext cx="49514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0D0F"/>
                </a:solidFill>
              </a:rPr>
              <a:t>Abstract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256032" y="2286000"/>
            <a:ext cx="4905756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b="1">
                <a:solidFill>
                  <a:srgbClr val="E8C98E"/>
                </a:solidFill>
              </a:rPr>
              <a:t>The Library Resource Management System</a:t>
            </a:r>
            <a:r>
              <a:rPr lang="en-US" sz="850">
                <a:solidFill>
                  <a:srgbClr val="F0EDE6"/>
                </a:solidFill>
              </a:rPr>
              <a:t> is a fully client-side web application built with HTML5, CSS3, and vanilla JavaScript (ES6+).
</a:t>
            </a:r>
            <a:r>
              <a:rPr lang="en-US" sz="850">
                <a:solidFill>
                  <a:srgbClr val="CCBBAA"/>
                </a:solidFill>
              </a:rPr>
              <a:t>It allows librarians and members to browse, search, filter, borrow, and track books across 6 genres. Features include dynamic card rendering, real-time stats, form validation, localStorage persistence, toast notifications, and a dark gold aesthetic — delivering a complete library management workflow.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5436108" y="1938528"/>
            <a:ext cx="5088636" cy="1783080"/>
          </a:xfrm>
          <a:prstGeom prst="rect">
            <a:avLst/>
          </a:prstGeom>
          <a:solidFill>
            <a:srgbClr val="141417"/>
          </a:solidFill>
          <a:ln w="12700">
            <a:solidFill>
              <a:srgbClr val="2A2A35"/>
            </a:solidFill>
            <a:prstDash val="solid"/>
          </a:ln>
          <a:effectLst>
            <a:outerShdw blurRad="508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6108" y="1938528"/>
            <a:ext cx="5088636" cy="292608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7548" y="1938528"/>
            <a:ext cx="49514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System Architecture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5527548" y="2340864"/>
            <a:ext cx="1153287" cy="640080"/>
          </a:xfrm>
          <a:prstGeom prst="rect">
            <a:avLst/>
          </a:prstGeom>
          <a:solidFill>
            <a:srgbClr val="1A3A5C"/>
          </a:solidFill>
          <a:ln w="15240">
            <a:solidFill>
              <a:srgbClr val="4A9E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7548" y="2340864"/>
            <a:ext cx="11532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4A9EDA"/>
                </a:solidFill>
              </a:rPr>
              <a:t>HTML5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4A9EDA"/>
                </a:solidFill>
              </a:rPr>
              <a:t>CSS3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6680835" y="2660904"/>
            <a:ext cx="54864" cy="0"/>
          </a:xfrm>
          <a:prstGeom prst="line">
            <a:avLst/>
          </a:prstGeom>
          <a:noFill/>
          <a:ln w="12700">
            <a:solidFill>
              <a:srgbClr val="8A87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35699" y="2340864"/>
            <a:ext cx="1153287" cy="640080"/>
          </a:xfrm>
          <a:prstGeom prst="rect">
            <a:avLst/>
          </a:prstGeom>
          <a:solidFill>
            <a:srgbClr val="1A3008"/>
          </a:solidFill>
          <a:ln w="15240">
            <a:solidFill>
              <a:srgbClr val="5CC8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5699" y="2340864"/>
            <a:ext cx="11532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5CC88A"/>
                </a:solidFill>
              </a:rPr>
              <a:t>JavaScript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5CC88A"/>
                </a:solidFill>
              </a:rPr>
              <a:t>ES6+</a:t>
            </a:r>
            <a:endParaRPr lang="en-US" sz="750"/>
          </a:p>
        </p:txBody>
      </p:sp>
      <p:sp>
        <p:nvSpPr>
          <p:cNvPr id="31" name="Shape 29"/>
          <p:cNvSpPr/>
          <p:nvPr/>
        </p:nvSpPr>
        <p:spPr>
          <a:xfrm>
            <a:off x="7888986" y="2660904"/>
            <a:ext cx="54864" cy="0"/>
          </a:xfrm>
          <a:prstGeom prst="line">
            <a:avLst/>
          </a:prstGeom>
          <a:noFill/>
          <a:ln w="12700">
            <a:solidFill>
              <a:srgbClr val="8A87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43850" y="2340864"/>
            <a:ext cx="1153287" cy="640080"/>
          </a:xfrm>
          <a:prstGeom prst="rect">
            <a:avLst/>
          </a:prstGeom>
          <a:solidFill>
            <a:srgbClr val="1A1008"/>
          </a:solidFill>
          <a:ln w="15240">
            <a:solidFill>
              <a:srgbClr val="E0A8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43850" y="2340864"/>
            <a:ext cx="11532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E0A85C"/>
                </a:solidFill>
              </a:rPr>
              <a:t>LocalStorage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E0A85C"/>
                </a:solidFill>
              </a:rPr>
              <a:t>API</a:t>
            </a:r>
            <a:endParaRPr lang="en-US" sz="750"/>
          </a:p>
        </p:txBody>
      </p:sp>
      <p:sp>
        <p:nvSpPr>
          <p:cNvPr id="34" name="Shape 32"/>
          <p:cNvSpPr/>
          <p:nvPr/>
        </p:nvSpPr>
        <p:spPr>
          <a:xfrm>
            <a:off x="9097137" y="2660904"/>
            <a:ext cx="54864" cy="0"/>
          </a:xfrm>
          <a:prstGeom prst="line">
            <a:avLst/>
          </a:prstGeom>
          <a:noFill/>
          <a:ln w="12700">
            <a:solidFill>
              <a:srgbClr val="8A87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52001" y="2340864"/>
            <a:ext cx="1153287" cy="640080"/>
          </a:xfrm>
          <a:prstGeom prst="rect">
            <a:avLst/>
          </a:prstGeom>
          <a:solidFill>
            <a:srgbClr val="2D1A3D"/>
          </a:solidFill>
          <a:ln w="15240">
            <a:solidFill>
              <a:srgbClr val="B07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2001" y="2340864"/>
            <a:ext cx="11532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B07AD4"/>
                </a:solidFill>
              </a:rPr>
              <a:t>DOM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B07AD4"/>
                </a:solidFill>
              </a:rPr>
              <a:t>Events</a:t>
            </a:r>
            <a:endParaRPr lang="en-US" sz="750"/>
          </a:p>
        </p:txBody>
      </p:sp>
      <p:sp>
        <p:nvSpPr>
          <p:cNvPr id="37" name="Text 35"/>
          <p:cNvSpPr/>
          <p:nvPr/>
        </p:nvSpPr>
        <p:spPr>
          <a:xfrm>
            <a:off x="5527548" y="30723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8A96E"/>
                </a:solidFill>
              </a:rPr>
              <a:t>Key Features: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5527548" y="3291840"/>
            <a:ext cx="2471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BBAA"/>
                </a:solidFill>
              </a:rPr>
              <a:t>📖 Borrow &amp; Return Books</a:t>
            </a:r>
            <a:endParaRPr lang="en-US" sz="750"/>
          </a:p>
        </p:txBody>
      </p:sp>
      <p:sp>
        <p:nvSpPr>
          <p:cNvPr id="39" name="Text 37"/>
          <p:cNvSpPr/>
          <p:nvPr/>
        </p:nvSpPr>
        <p:spPr>
          <a:xfrm>
            <a:off x="8026146" y="3291840"/>
            <a:ext cx="2471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BBAA"/>
                </a:solidFill>
              </a:rPr>
              <a:t>🔍 Search &amp; Filter Catalog</a:t>
            </a:r>
            <a:endParaRPr lang="en-US" sz="750"/>
          </a:p>
        </p:txBody>
      </p:sp>
      <p:sp>
        <p:nvSpPr>
          <p:cNvPr id="40" name="Text 38"/>
          <p:cNvSpPr/>
          <p:nvPr/>
        </p:nvSpPr>
        <p:spPr>
          <a:xfrm>
            <a:off x="5527548" y="3474720"/>
            <a:ext cx="2471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BBAA"/>
                </a:solidFill>
              </a:rPr>
              <a:t>📊 Live Stats Dashboard</a:t>
            </a:r>
            <a:endParaRPr lang="en-US" sz="750"/>
          </a:p>
        </p:txBody>
      </p:sp>
      <p:sp>
        <p:nvSpPr>
          <p:cNvPr id="41" name="Text 39"/>
          <p:cNvSpPr/>
          <p:nvPr/>
        </p:nvSpPr>
        <p:spPr>
          <a:xfrm>
            <a:off x="8026146" y="3474720"/>
            <a:ext cx="2471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BBAA"/>
                </a:solidFill>
              </a:rPr>
              <a:t>💾 localStorage Persistence</a:t>
            </a:r>
            <a:endParaRPr lang="en-US" sz="750"/>
          </a:p>
        </p:txBody>
      </p:sp>
      <p:sp>
        <p:nvSpPr>
          <p:cNvPr id="42" name="Text 40"/>
          <p:cNvSpPr/>
          <p:nvPr/>
        </p:nvSpPr>
        <p:spPr>
          <a:xfrm>
            <a:off x="5527548" y="3657600"/>
            <a:ext cx="2471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BBAA"/>
                </a:solidFill>
              </a:rPr>
              <a:t>🔔 Toast Notifications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8026146" y="3657600"/>
            <a:ext cx="2471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BBAA"/>
                </a:solidFill>
              </a:rPr>
              <a:t>✅ JS Form Validation</a:t>
            </a:r>
            <a:endParaRPr lang="en-US" sz="750"/>
          </a:p>
        </p:txBody>
      </p:sp>
      <p:sp>
        <p:nvSpPr>
          <p:cNvPr id="44" name="Shape 42"/>
          <p:cNvSpPr/>
          <p:nvPr/>
        </p:nvSpPr>
        <p:spPr>
          <a:xfrm>
            <a:off x="0" y="3886200"/>
            <a:ext cx="10689336" cy="310896"/>
          </a:xfrm>
          <a:prstGeom prst="rect">
            <a:avLst/>
          </a:prstGeom>
          <a:solidFill>
            <a:srgbClr val="1C1C22"/>
          </a:solidFill>
          <a:ln w="6350">
            <a:solidFill>
              <a:srgbClr val="C8A9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3886200"/>
            <a:ext cx="54864" cy="31089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34472" y="3886200"/>
            <a:ext cx="54864" cy="31089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3886200"/>
            <a:ext cx="10689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C8A96E"/>
                </a:solidFill>
              </a:rPr>
              <a:t>— CO-WISE IMPLEMENTATION —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164592" y="4251960"/>
            <a:ext cx="5088636" cy="2880360"/>
          </a:xfrm>
          <a:prstGeom prst="rect">
            <a:avLst/>
          </a:prstGeom>
          <a:solidFill>
            <a:srgbClr val="1A1508"/>
          </a:solidFill>
          <a:ln w="19050">
            <a:solidFill>
              <a:srgbClr val="C8A96E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64592" y="4251960"/>
            <a:ext cx="5088636" cy="32918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4592" y="4581144"/>
            <a:ext cx="64008" cy="255117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" y="4297680"/>
            <a:ext cx="530352" cy="237744"/>
          </a:xfrm>
          <a:prstGeom prst="roundRect">
            <a:avLst>
              <a:gd name="adj" fmla="val 19231"/>
            </a:avLst>
          </a:prstGeom>
          <a:solidFill>
            <a:srgbClr val="0D0D0F"/>
          </a:solidFill>
          <a:ln w="12700">
            <a:solidFill>
              <a:srgbClr val="0D0D0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429768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8A96E"/>
                </a:solidFill>
              </a:rPr>
              <a:t>CO1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859536" y="4297680"/>
            <a:ext cx="42839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D0D0F"/>
                </a:solidFill>
              </a:rPr>
              <a:t>Internet Fundamentals, HTML &amp; CSS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256032" y="4654296"/>
            <a:ext cx="2407158" cy="21945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465429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HTML Structure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310896" y="4910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Semantic tags: &lt;header&gt;, &lt;nav&gt;, &lt;main&gt;, &lt;section&gt;, &lt;article&gt;</a:t>
            </a:r>
            <a:endParaRPr lang="en-US" sz="780"/>
          </a:p>
        </p:txBody>
      </p:sp>
      <p:sp>
        <p:nvSpPr>
          <p:cNvPr id="57" name="Text 55"/>
          <p:cNvSpPr/>
          <p:nvPr/>
        </p:nvSpPr>
        <p:spPr>
          <a:xfrm>
            <a:off x="310896" y="541324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ARIA roles, aria-label, aria-live, aria-current for accessibility</a:t>
            </a:r>
            <a:endParaRPr lang="en-US" sz="780"/>
          </a:p>
        </p:txBody>
      </p:sp>
      <p:sp>
        <p:nvSpPr>
          <p:cNvPr id="58" name="Text 56"/>
          <p:cNvSpPr/>
          <p:nvPr/>
        </p:nvSpPr>
        <p:spPr>
          <a:xfrm>
            <a:off x="310896" y="59161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Form elements: &lt;fieldset&gt;, &lt;legend&gt;, input types (text, email, date)</a:t>
            </a:r>
            <a:endParaRPr lang="en-US" sz="780"/>
          </a:p>
        </p:txBody>
      </p:sp>
      <p:sp>
        <p:nvSpPr>
          <p:cNvPr id="59" name="Text 57"/>
          <p:cNvSpPr/>
          <p:nvPr/>
        </p:nvSpPr>
        <p:spPr>
          <a:xfrm>
            <a:off x="310896" y="64190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&lt;table&gt; with &lt;thead&gt;, &lt;th&gt;, &lt;td&gt; for borrow records display</a:t>
            </a:r>
            <a:endParaRPr lang="en-US" sz="780"/>
          </a:p>
        </p:txBody>
      </p:sp>
      <p:sp>
        <p:nvSpPr>
          <p:cNvPr id="60" name="Shape 58"/>
          <p:cNvSpPr/>
          <p:nvPr/>
        </p:nvSpPr>
        <p:spPr>
          <a:xfrm>
            <a:off x="2745486" y="4654296"/>
            <a:ext cx="2407158" cy="21945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00350" y="465429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CSS Styling</a:t>
            </a:r>
            <a:endParaRPr lang="en-US" sz="800"/>
          </a:p>
        </p:txBody>
      </p:sp>
      <p:sp>
        <p:nvSpPr>
          <p:cNvPr id="62" name="Text 60"/>
          <p:cNvSpPr/>
          <p:nvPr/>
        </p:nvSpPr>
        <p:spPr>
          <a:xfrm>
            <a:off x="2800350" y="4910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CSS custom properties (--bg, --accent, --surface, --transition)</a:t>
            </a:r>
            <a:endParaRPr lang="en-US" sz="780"/>
          </a:p>
        </p:txBody>
      </p:sp>
      <p:sp>
        <p:nvSpPr>
          <p:cNvPr id="63" name="Text 61"/>
          <p:cNvSpPr/>
          <p:nvPr/>
        </p:nvSpPr>
        <p:spPr>
          <a:xfrm>
            <a:off x="2800350" y="541324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Flexbox for header, nav, search bar, book-meta and form rows</a:t>
            </a:r>
            <a:endParaRPr lang="en-US" sz="780"/>
          </a:p>
        </p:txBody>
      </p:sp>
      <p:sp>
        <p:nvSpPr>
          <p:cNvPr id="64" name="Text 62"/>
          <p:cNvSpPr/>
          <p:nvPr/>
        </p:nvSpPr>
        <p:spPr>
          <a:xfrm>
            <a:off x="2800350" y="59161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CSS Grid: book-grid (auto-fill, minmax), stats grid (auto-fit)</a:t>
            </a:r>
            <a:endParaRPr lang="en-US" sz="780"/>
          </a:p>
        </p:txBody>
      </p:sp>
      <p:sp>
        <p:nvSpPr>
          <p:cNvPr id="65" name="Text 63"/>
          <p:cNvSpPr/>
          <p:nvPr/>
        </p:nvSpPr>
        <p:spPr>
          <a:xfrm>
            <a:off x="2800350" y="64190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@keyframes: fadeIn, slideIn, fadeOut, pulse-logo, spin animations</a:t>
            </a:r>
            <a:endParaRPr lang="en-US" sz="780"/>
          </a:p>
        </p:txBody>
      </p:sp>
      <p:sp>
        <p:nvSpPr>
          <p:cNvPr id="66" name="Shape 64"/>
          <p:cNvSpPr/>
          <p:nvPr/>
        </p:nvSpPr>
        <p:spPr>
          <a:xfrm>
            <a:off x="5436108" y="4251960"/>
            <a:ext cx="5088636" cy="2880360"/>
          </a:xfrm>
          <a:prstGeom prst="rect">
            <a:avLst/>
          </a:prstGeom>
          <a:solidFill>
            <a:srgbClr val="081A10"/>
          </a:solidFill>
          <a:ln w="19050">
            <a:solidFill>
              <a:srgbClr val="5CC88A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436108" y="4251960"/>
            <a:ext cx="5088636" cy="329184"/>
          </a:xfrm>
          <a:prstGeom prst="rect">
            <a:avLst/>
          </a:prstGeom>
          <a:solidFill>
            <a:srgbClr val="5CC88A"/>
          </a:solidFill>
          <a:ln w="12700">
            <a:solidFill>
              <a:srgbClr val="5CC8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36108" y="4581144"/>
            <a:ext cx="64008" cy="2551176"/>
          </a:xfrm>
          <a:prstGeom prst="rect">
            <a:avLst/>
          </a:prstGeom>
          <a:solidFill>
            <a:srgbClr val="5CC88A"/>
          </a:solidFill>
          <a:ln w="12700">
            <a:solidFill>
              <a:srgbClr val="5CC88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27548" y="4297680"/>
            <a:ext cx="530352" cy="237744"/>
          </a:xfrm>
          <a:prstGeom prst="roundRect">
            <a:avLst>
              <a:gd name="adj" fmla="val 19231"/>
            </a:avLst>
          </a:prstGeom>
          <a:solidFill>
            <a:srgbClr val="0D0D0F"/>
          </a:solidFill>
          <a:ln w="12700">
            <a:solidFill>
              <a:srgbClr val="0D0D0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27548" y="429768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CC88A"/>
                </a:solidFill>
              </a:rPr>
              <a:t>CO2</a:t>
            </a:r>
            <a:endParaRPr lang="en-US" sz="1000"/>
          </a:p>
        </p:txBody>
      </p:sp>
      <p:sp>
        <p:nvSpPr>
          <p:cNvPr id="71" name="Text 69"/>
          <p:cNvSpPr/>
          <p:nvPr/>
        </p:nvSpPr>
        <p:spPr>
          <a:xfrm>
            <a:off x="6131052" y="4297680"/>
            <a:ext cx="42839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D0D0F"/>
                </a:solidFill>
              </a:rPr>
              <a:t>JavaScript Programming Essentials</a:t>
            </a:r>
            <a:endParaRPr lang="en-US" sz="850"/>
          </a:p>
        </p:txBody>
      </p:sp>
      <p:sp>
        <p:nvSpPr>
          <p:cNvPr id="72" name="Shape 70"/>
          <p:cNvSpPr/>
          <p:nvPr/>
        </p:nvSpPr>
        <p:spPr>
          <a:xfrm>
            <a:off x="5527548" y="4654296"/>
            <a:ext cx="2407158" cy="219456"/>
          </a:xfrm>
          <a:prstGeom prst="rect">
            <a:avLst/>
          </a:prstGeom>
          <a:solidFill>
            <a:srgbClr val="5CC88A"/>
          </a:solidFill>
          <a:ln w="12700">
            <a:solidFill>
              <a:srgbClr val="5CC8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82412" y="465429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Core JS Concepts</a:t>
            </a:r>
            <a:endParaRPr lang="en-US" sz="800"/>
          </a:p>
        </p:txBody>
      </p:sp>
      <p:sp>
        <p:nvSpPr>
          <p:cNvPr id="74" name="Text 72"/>
          <p:cNvSpPr/>
          <p:nvPr/>
        </p:nvSpPr>
        <p:spPr>
          <a:xfrm>
            <a:off x="5582412" y="4910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Arrow functions: const genId = () =&gt; Date.now()</a:t>
            </a:r>
            <a:endParaRPr lang="en-US" sz="780"/>
          </a:p>
        </p:txBody>
      </p:sp>
      <p:sp>
        <p:nvSpPr>
          <p:cNvPr id="75" name="Text 73"/>
          <p:cNvSpPr/>
          <p:nvPr/>
        </p:nvSpPr>
        <p:spPr>
          <a:xfrm>
            <a:off x="5582412" y="541324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Array methods: .filter(), .map(), .find(), .push(), .reverse()</a:t>
            </a:r>
            <a:endParaRPr lang="en-US" sz="780"/>
          </a:p>
        </p:txBody>
      </p:sp>
      <p:sp>
        <p:nvSpPr>
          <p:cNvPr id="76" name="Text 74"/>
          <p:cNvSpPr/>
          <p:nvPr/>
        </p:nvSpPr>
        <p:spPr>
          <a:xfrm>
            <a:off x="5582412" y="59161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Template literals for dynamic HTML card and table row generation</a:t>
            </a:r>
            <a:endParaRPr lang="en-US" sz="780"/>
          </a:p>
        </p:txBody>
      </p:sp>
      <p:sp>
        <p:nvSpPr>
          <p:cNvPr id="77" name="Text 75"/>
          <p:cNvSpPr/>
          <p:nvPr/>
        </p:nvSpPr>
        <p:spPr>
          <a:xfrm>
            <a:off x="5582412" y="64190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Destructuring, spread operator: [...records].reverse()</a:t>
            </a:r>
            <a:endParaRPr lang="en-US" sz="780"/>
          </a:p>
        </p:txBody>
      </p:sp>
      <p:sp>
        <p:nvSpPr>
          <p:cNvPr id="78" name="Shape 76"/>
          <p:cNvSpPr/>
          <p:nvPr/>
        </p:nvSpPr>
        <p:spPr>
          <a:xfrm>
            <a:off x="8017002" y="4654296"/>
            <a:ext cx="2407158" cy="219456"/>
          </a:xfrm>
          <a:prstGeom prst="rect">
            <a:avLst/>
          </a:prstGeom>
          <a:solidFill>
            <a:srgbClr val="5CC88A"/>
          </a:solidFill>
          <a:ln w="12700">
            <a:solidFill>
              <a:srgbClr val="5CC88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71866" y="465429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Data Management</a:t>
            </a:r>
            <a:endParaRPr lang="en-US" sz="800"/>
          </a:p>
        </p:txBody>
      </p:sp>
      <p:sp>
        <p:nvSpPr>
          <p:cNvPr id="80" name="Text 78"/>
          <p:cNvSpPr/>
          <p:nvPr/>
        </p:nvSpPr>
        <p:spPr>
          <a:xfrm>
            <a:off x="8071866" y="4910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34-book defaultBooks array with 9 properties per object</a:t>
            </a:r>
            <a:endParaRPr lang="en-US" sz="780"/>
          </a:p>
        </p:txBody>
      </p:sp>
      <p:sp>
        <p:nvSpPr>
          <p:cNvPr id="81" name="Text 79"/>
          <p:cNvSpPr/>
          <p:nvPr/>
        </p:nvSpPr>
        <p:spPr>
          <a:xfrm>
            <a:off x="8071866" y="541324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Application state: books[], records[] with genre/status/copies</a:t>
            </a:r>
            <a:endParaRPr lang="en-US" sz="780"/>
          </a:p>
        </p:txBody>
      </p:sp>
      <p:sp>
        <p:nvSpPr>
          <p:cNvPr id="82" name="Text 80"/>
          <p:cNvSpPr/>
          <p:nvPr/>
        </p:nvSpPr>
        <p:spPr>
          <a:xfrm>
            <a:off x="8071866" y="59161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const $ = id =&gt; document.getElementById(id) DOM shorthand</a:t>
            </a:r>
            <a:endParaRPr lang="en-US" sz="780"/>
          </a:p>
        </p:txBody>
      </p:sp>
      <p:sp>
        <p:nvSpPr>
          <p:cNvPr id="83" name="Text 81"/>
          <p:cNvSpPr/>
          <p:nvPr/>
        </p:nvSpPr>
        <p:spPr>
          <a:xfrm>
            <a:off x="8071866" y="64190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5CC88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Date arithmetic: Date.now() + 14 * 86400000 for return dates</a:t>
            </a:r>
            <a:endParaRPr lang="en-US" sz="780"/>
          </a:p>
        </p:txBody>
      </p:sp>
      <p:sp>
        <p:nvSpPr>
          <p:cNvPr id="84" name="Shape 82"/>
          <p:cNvSpPr/>
          <p:nvPr/>
        </p:nvSpPr>
        <p:spPr>
          <a:xfrm>
            <a:off x="164592" y="7315200"/>
            <a:ext cx="5088636" cy="2880360"/>
          </a:xfrm>
          <a:prstGeom prst="rect">
            <a:avLst/>
          </a:prstGeom>
          <a:solidFill>
            <a:srgbClr val="081422"/>
          </a:solidFill>
          <a:ln w="19050">
            <a:solidFill>
              <a:srgbClr val="4A9EDA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164592" y="7315200"/>
            <a:ext cx="5088636" cy="329184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4592" y="7644384"/>
            <a:ext cx="64008" cy="2551176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6032" y="7360920"/>
            <a:ext cx="530352" cy="237744"/>
          </a:xfrm>
          <a:prstGeom prst="roundRect">
            <a:avLst>
              <a:gd name="adj" fmla="val 19231"/>
            </a:avLst>
          </a:prstGeom>
          <a:solidFill>
            <a:srgbClr val="0D0D0F"/>
          </a:solidFill>
          <a:ln w="12700">
            <a:solidFill>
              <a:srgbClr val="0D0D0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6032" y="736092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9EDA"/>
                </a:solidFill>
              </a:rPr>
              <a:t>CO3</a:t>
            </a:r>
            <a:endParaRPr lang="en-US" sz="1000"/>
          </a:p>
        </p:txBody>
      </p:sp>
      <p:sp>
        <p:nvSpPr>
          <p:cNvPr id="89" name="Text 87"/>
          <p:cNvSpPr/>
          <p:nvPr/>
        </p:nvSpPr>
        <p:spPr>
          <a:xfrm>
            <a:off x="859536" y="7360920"/>
            <a:ext cx="42839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D0D0F"/>
                </a:solidFill>
              </a:rPr>
              <a:t>JavaScript Interactivity, DOM &amp; Events</a:t>
            </a:r>
            <a:endParaRPr lang="en-US" sz="850"/>
          </a:p>
        </p:txBody>
      </p:sp>
      <p:sp>
        <p:nvSpPr>
          <p:cNvPr id="90" name="Shape 88"/>
          <p:cNvSpPr/>
          <p:nvPr/>
        </p:nvSpPr>
        <p:spPr>
          <a:xfrm>
            <a:off x="256032" y="7717536"/>
            <a:ext cx="2407158" cy="219456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0896" y="771753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DOM Manipulation</a:t>
            </a:r>
            <a:endParaRPr lang="en-US" sz="800"/>
          </a:p>
        </p:txBody>
      </p:sp>
      <p:sp>
        <p:nvSpPr>
          <p:cNvPr id="92" name="Text 90"/>
          <p:cNvSpPr/>
          <p:nvPr/>
        </p:nvSpPr>
        <p:spPr>
          <a:xfrm>
            <a:off x="310896" y="79735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Dynamic book cards via innerHTML + template literals</a:t>
            </a:r>
            <a:endParaRPr lang="en-US" sz="780"/>
          </a:p>
        </p:txBody>
      </p:sp>
      <p:sp>
        <p:nvSpPr>
          <p:cNvPr id="93" name="Text 91"/>
          <p:cNvSpPr/>
          <p:nvPr/>
        </p:nvSpPr>
        <p:spPr>
          <a:xfrm>
            <a:off x="310896" y="84764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requestAnimationFrame() for animated stat counter effect</a:t>
            </a:r>
            <a:endParaRPr lang="en-US" sz="780"/>
          </a:p>
        </p:txBody>
      </p:sp>
      <p:sp>
        <p:nvSpPr>
          <p:cNvPr id="94" name="Text 92"/>
          <p:cNvSpPr/>
          <p:nvPr/>
        </p:nvSpPr>
        <p:spPr>
          <a:xfrm>
            <a:off x="310896" y="897940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classList.add/remove('active') for nav section switching</a:t>
            </a:r>
            <a:endParaRPr lang="en-US" sz="780"/>
          </a:p>
        </p:txBody>
      </p:sp>
      <p:sp>
        <p:nvSpPr>
          <p:cNvPr id="95" name="Text 93"/>
          <p:cNvSpPr/>
          <p:nvPr/>
        </p:nvSpPr>
        <p:spPr>
          <a:xfrm>
            <a:off x="310896" y="9482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progress-fill width animated via JS after requestAnimationFrame</a:t>
            </a:r>
            <a:endParaRPr lang="en-US" sz="780"/>
          </a:p>
        </p:txBody>
      </p:sp>
      <p:sp>
        <p:nvSpPr>
          <p:cNvPr id="96" name="Shape 94"/>
          <p:cNvSpPr/>
          <p:nvPr/>
        </p:nvSpPr>
        <p:spPr>
          <a:xfrm>
            <a:off x="2745486" y="7717536"/>
            <a:ext cx="2407158" cy="219456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800350" y="771753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Event Handling</a:t>
            </a:r>
            <a:endParaRPr lang="en-US" sz="800"/>
          </a:p>
        </p:txBody>
      </p:sp>
      <p:sp>
        <p:nvSpPr>
          <p:cNvPr id="98" name="Text 96"/>
          <p:cNvSpPr/>
          <p:nvPr/>
        </p:nvSpPr>
        <p:spPr>
          <a:xfrm>
            <a:off x="2800350" y="79735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addEventListener('submit') on borrow-form and add-book-form</a:t>
            </a:r>
            <a:endParaRPr lang="en-US" sz="780"/>
          </a:p>
        </p:txBody>
      </p:sp>
      <p:sp>
        <p:nvSpPr>
          <p:cNvPr id="99" name="Text 97"/>
          <p:cNvSpPr/>
          <p:nvPr/>
        </p:nvSpPr>
        <p:spPr>
          <a:xfrm>
            <a:off x="2800350" y="84764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e.preventDefault() to intercept form default submission</a:t>
            </a:r>
            <a:endParaRPr lang="en-US" sz="780"/>
          </a:p>
        </p:txBody>
      </p:sp>
      <p:sp>
        <p:nvSpPr>
          <p:cNvPr id="100" name="Text 98"/>
          <p:cNvSpPr/>
          <p:nvPr/>
        </p:nvSpPr>
        <p:spPr>
          <a:xfrm>
            <a:off x="2800350" y="897940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oninput on search inputs to trigger real-time catalog filtering</a:t>
            </a:r>
            <a:endParaRPr lang="en-US" sz="780"/>
          </a:p>
        </p:txBody>
      </p:sp>
      <p:sp>
        <p:nvSpPr>
          <p:cNvPr id="101" name="Text 99"/>
          <p:cNvSpPr/>
          <p:nvPr/>
        </p:nvSpPr>
        <p:spPr>
          <a:xfrm>
            <a:off x="2800350" y="9482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onclick handlers: quickBorrow(), returnBook(), deleteBook()</a:t>
            </a:r>
            <a:endParaRPr lang="en-US" sz="780"/>
          </a:p>
        </p:txBody>
      </p:sp>
      <p:sp>
        <p:nvSpPr>
          <p:cNvPr id="102" name="Shape 100"/>
          <p:cNvSpPr/>
          <p:nvPr/>
        </p:nvSpPr>
        <p:spPr>
          <a:xfrm>
            <a:off x="5436108" y="7315200"/>
            <a:ext cx="5088636" cy="2880360"/>
          </a:xfrm>
          <a:prstGeom prst="rect">
            <a:avLst/>
          </a:prstGeom>
          <a:solidFill>
            <a:srgbClr val="1A1008"/>
          </a:solidFill>
          <a:ln w="19050">
            <a:solidFill>
              <a:srgbClr val="E0A85C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5436108" y="7315200"/>
            <a:ext cx="5088636" cy="329184"/>
          </a:xfrm>
          <a:prstGeom prst="rect">
            <a:avLst/>
          </a:prstGeom>
          <a:solidFill>
            <a:srgbClr val="E0A85C"/>
          </a:solidFill>
          <a:ln w="12700">
            <a:solidFill>
              <a:srgbClr val="E0A8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436108" y="7644384"/>
            <a:ext cx="64008" cy="2551176"/>
          </a:xfrm>
          <a:prstGeom prst="rect">
            <a:avLst/>
          </a:prstGeom>
          <a:solidFill>
            <a:srgbClr val="E0A85C"/>
          </a:solidFill>
          <a:ln w="12700">
            <a:solidFill>
              <a:srgbClr val="E0A8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27548" y="7360920"/>
            <a:ext cx="530352" cy="237744"/>
          </a:xfrm>
          <a:prstGeom prst="roundRect">
            <a:avLst>
              <a:gd name="adj" fmla="val 19231"/>
            </a:avLst>
          </a:prstGeom>
          <a:solidFill>
            <a:srgbClr val="0D0D0F"/>
          </a:solidFill>
          <a:ln w="12700">
            <a:solidFill>
              <a:srgbClr val="0D0D0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27548" y="736092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0A85C"/>
                </a:solidFill>
              </a:rPr>
              <a:t>CO4</a:t>
            </a:r>
            <a:endParaRPr lang="en-US" sz="1000"/>
          </a:p>
        </p:txBody>
      </p:sp>
      <p:sp>
        <p:nvSpPr>
          <p:cNvPr id="107" name="Text 105"/>
          <p:cNvSpPr/>
          <p:nvPr/>
        </p:nvSpPr>
        <p:spPr>
          <a:xfrm>
            <a:off x="6131052" y="7360920"/>
            <a:ext cx="42839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0D0D0F"/>
                </a:solidFill>
              </a:rPr>
              <a:t>Advanced DOM, Browser APIs &amp; UX</a:t>
            </a:r>
            <a:endParaRPr lang="en-US" sz="850"/>
          </a:p>
        </p:txBody>
      </p:sp>
      <p:sp>
        <p:nvSpPr>
          <p:cNvPr id="108" name="Shape 106"/>
          <p:cNvSpPr/>
          <p:nvPr/>
        </p:nvSpPr>
        <p:spPr>
          <a:xfrm>
            <a:off x="5527548" y="7717536"/>
            <a:ext cx="2407158" cy="219456"/>
          </a:xfrm>
          <a:prstGeom prst="rect">
            <a:avLst/>
          </a:prstGeom>
          <a:solidFill>
            <a:srgbClr val="E0A85C"/>
          </a:solidFill>
          <a:ln w="12700">
            <a:solidFill>
              <a:srgbClr val="E0A85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582412" y="771753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Browser APIs</a:t>
            </a:r>
            <a:endParaRPr lang="en-US" sz="800"/>
          </a:p>
        </p:txBody>
      </p:sp>
      <p:sp>
        <p:nvSpPr>
          <p:cNvPr id="110" name="Text 108"/>
          <p:cNvSpPr/>
          <p:nvPr/>
        </p:nvSpPr>
        <p:spPr>
          <a:xfrm>
            <a:off x="5582412" y="79735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localStorage.getItem/setItem for books &amp; records persistence</a:t>
            </a:r>
            <a:endParaRPr lang="en-US" sz="780"/>
          </a:p>
        </p:txBody>
      </p:sp>
      <p:sp>
        <p:nvSpPr>
          <p:cNvPr id="111" name="Text 109"/>
          <p:cNvSpPr/>
          <p:nvPr/>
        </p:nvSpPr>
        <p:spPr>
          <a:xfrm>
            <a:off x="5582412" y="84764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JSON.stringify/parse for object serialization to storage</a:t>
            </a:r>
            <a:endParaRPr lang="en-US" sz="780"/>
          </a:p>
        </p:txBody>
      </p:sp>
      <p:sp>
        <p:nvSpPr>
          <p:cNvPr id="112" name="Text 110"/>
          <p:cNvSpPr/>
          <p:nvPr/>
        </p:nvSpPr>
        <p:spPr>
          <a:xfrm>
            <a:off x="5582412" y="897940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try-catch wrapped loadData() / saveData() helper functions</a:t>
            </a:r>
            <a:endParaRPr lang="en-US" sz="780"/>
          </a:p>
        </p:txBody>
      </p:sp>
      <p:sp>
        <p:nvSpPr>
          <p:cNvPr id="113" name="Text 111"/>
          <p:cNvSpPr/>
          <p:nvPr/>
        </p:nvSpPr>
        <p:spPr>
          <a:xfrm>
            <a:off x="5582412" y="9482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new Date().toISOString().split('T')[0] for date defaults</a:t>
            </a:r>
            <a:endParaRPr lang="en-US" sz="780"/>
          </a:p>
        </p:txBody>
      </p:sp>
      <p:sp>
        <p:nvSpPr>
          <p:cNvPr id="114" name="Shape 112"/>
          <p:cNvSpPr/>
          <p:nvPr/>
        </p:nvSpPr>
        <p:spPr>
          <a:xfrm>
            <a:off x="8017002" y="7717536"/>
            <a:ext cx="2407158" cy="219456"/>
          </a:xfrm>
          <a:prstGeom prst="rect">
            <a:avLst/>
          </a:prstGeom>
          <a:solidFill>
            <a:srgbClr val="E0A85C"/>
          </a:solidFill>
          <a:ln w="12700">
            <a:solidFill>
              <a:srgbClr val="E0A85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071866" y="7717536"/>
            <a:ext cx="23340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D0D0F"/>
                </a:solidFill>
              </a:rPr>
              <a:t>UI/UX Features</a:t>
            </a:r>
            <a:endParaRPr lang="en-US" sz="800"/>
          </a:p>
        </p:txBody>
      </p:sp>
      <p:sp>
        <p:nvSpPr>
          <p:cNvPr id="116" name="Text 114"/>
          <p:cNvSpPr/>
          <p:nvPr/>
        </p:nvSpPr>
        <p:spPr>
          <a:xfrm>
            <a:off x="8071866" y="797356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Toast notifications: createElement + CSS animation + auto-remove</a:t>
            </a:r>
            <a:endParaRPr lang="en-US" sz="780"/>
          </a:p>
        </p:txBody>
      </p:sp>
      <p:sp>
        <p:nvSpPr>
          <p:cNvPr id="117" name="Text 115"/>
          <p:cNvSpPr/>
          <p:nvPr/>
        </p:nvSpPr>
        <p:spPr>
          <a:xfrm>
            <a:off x="8071866" y="847648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Form validation: regex /^MEM-\d{3}$/ and email pattern check</a:t>
            </a:r>
            <a:endParaRPr lang="en-US" sz="780"/>
          </a:p>
        </p:txBody>
      </p:sp>
      <p:sp>
        <p:nvSpPr>
          <p:cNvPr id="118" name="Text 116"/>
          <p:cNvSpPr/>
          <p:nvPr/>
        </p:nvSpPr>
        <p:spPr>
          <a:xfrm>
            <a:off x="8071866" y="897940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Animated stat counters using setInterval step-increment pattern</a:t>
            </a:r>
            <a:endParaRPr lang="en-US" sz="780"/>
          </a:p>
        </p:txBody>
      </p:sp>
      <p:sp>
        <p:nvSpPr>
          <p:cNvPr id="119" name="Text 117"/>
          <p:cNvSpPr/>
          <p:nvPr/>
        </p:nvSpPr>
        <p:spPr>
          <a:xfrm>
            <a:off x="8071866" y="9482328"/>
            <a:ext cx="2334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E0A85C"/>
                </a:solidFill>
              </a:rPr>
              <a:t>✔ </a:t>
            </a:r>
            <a:r>
              <a:rPr lang="en-US" sz="780">
                <a:solidFill>
                  <a:srgbClr val="DDCCBB"/>
                </a:solidFill>
              </a:rPr>
              <a:t>Book color mapping by genre: bookColors object lookup</a:t>
            </a:r>
            <a:endParaRPr lang="en-US" sz="780"/>
          </a:p>
        </p:txBody>
      </p:sp>
      <p:sp>
        <p:nvSpPr>
          <p:cNvPr id="120" name="Shape 118"/>
          <p:cNvSpPr/>
          <p:nvPr/>
        </p:nvSpPr>
        <p:spPr>
          <a:xfrm>
            <a:off x="0" y="10396728"/>
            <a:ext cx="10689336" cy="566928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0" y="10396728"/>
            <a:ext cx="10689336" cy="3657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0" y="10433304"/>
            <a:ext cx="1781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8A96E"/>
                </a:solidFill>
              </a:rPr>
              <a:t>📚 34</a:t>
            </a:r>
            <a:endParaRPr lang="en-US" sz="1200"/>
          </a:p>
        </p:txBody>
      </p:sp>
      <p:sp>
        <p:nvSpPr>
          <p:cNvPr id="123" name="Text 121"/>
          <p:cNvSpPr/>
          <p:nvPr/>
        </p:nvSpPr>
        <p:spPr>
          <a:xfrm>
            <a:off x="0" y="10725912"/>
            <a:ext cx="17815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A8790"/>
                </a:solidFill>
              </a:rPr>
              <a:t>Books</a:t>
            </a:r>
            <a:endParaRPr lang="en-US" sz="750"/>
          </a:p>
        </p:txBody>
      </p:sp>
      <p:sp>
        <p:nvSpPr>
          <p:cNvPr id="124" name="Shape 122"/>
          <p:cNvSpPr/>
          <p:nvPr/>
        </p:nvSpPr>
        <p:spPr>
          <a:xfrm>
            <a:off x="1781556" y="10488168"/>
            <a:ext cx="0" cy="384048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781556" y="10433304"/>
            <a:ext cx="1781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8A96E"/>
                </a:solidFill>
              </a:rPr>
              <a:t>🏷️ 6</a:t>
            </a:r>
            <a:endParaRPr lang="en-US" sz="1200"/>
          </a:p>
        </p:txBody>
      </p:sp>
      <p:sp>
        <p:nvSpPr>
          <p:cNvPr id="126" name="Text 124"/>
          <p:cNvSpPr/>
          <p:nvPr/>
        </p:nvSpPr>
        <p:spPr>
          <a:xfrm>
            <a:off x="1781556" y="10725912"/>
            <a:ext cx="17815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A8790"/>
                </a:solidFill>
              </a:rPr>
              <a:t>Genres</a:t>
            </a:r>
            <a:endParaRPr lang="en-US" sz="750"/>
          </a:p>
        </p:txBody>
      </p:sp>
      <p:sp>
        <p:nvSpPr>
          <p:cNvPr id="127" name="Shape 125"/>
          <p:cNvSpPr/>
          <p:nvPr/>
        </p:nvSpPr>
        <p:spPr>
          <a:xfrm>
            <a:off x="3563112" y="10488168"/>
            <a:ext cx="0" cy="384048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563112" y="10433304"/>
            <a:ext cx="1781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8A96E"/>
                </a:solidFill>
              </a:rPr>
              <a:t>⚙️ ES6+</a:t>
            </a:r>
            <a:endParaRPr lang="en-US" sz="1200"/>
          </a:p>
        </p:txBody>
      </p:sp>
      <p:sp>
        <p:nvSpPr>
          <p:cNvPr id="129" name="Text 127"/>
          <p:cNvSpPr/>
          <p:nvPr/>
        </p:nvSpPr>
        <p:spPr>
          <a:xfrm>
            <a:off x="3563112" y="10725912"/>
            <a:ext cx="17815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A8790"/>
                </a:solidFill>
              </a:rPr>
              <a:t>JavaScript</a:t>
            </a:r>
            <a:endParaRPr lang="en-US" sz="750"/>
          </a:p>
        </p:txBody>
      </p:sp>
      <p:sp>
        <p:nvSpPr>
          <p:cNvPr id="130" name="Shape 128"/>
          <p:cNvSpPr/>
          <p:nvPr/>
        </p:nvSpPr>
        <p:spPr>
          <a:xfrm>
            <a:off x="5344668" y="10488168"/>
            <a:ext cx="0" cy="384048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344668" y="10433304"/>
            <a:ext cx="1781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8A96E"/>
                </a:solidFill>
              </a:rPr>
              <a:t>📋 4</a:t>
            </a:r>
            <a:endParaRPr lang="en-US" sz="1200"/>
          </a:p>
        </p:txBody>
      </p:sp>
      <p:sp>
        <p:nvSpPr>
          <p:cNvPr id="132" name="Text 130"/>
          <p:cNvSpPr/>
          <p:nvPr/>
        </p:nvSpPr>
        <p:spPr>
          <a:xfrm>
            <a:off x="5344668" y="10725912"/>
            <a:ext cx="17815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A8790"/>
                </a:solidFill>
              </a:rPr>
              <a:t>Sections</a:t>
            </a:r>
            <a:endParaRPr lang="en-US" sz="750"/>
          </a:p>
        </p:txBody>
      </p:sp>
      <p:sp>
        <p:nvSpPr>
          <p:cNvPr id="133" name="Shape 131"/>
          <p:cNvSpPr/>
          <p:nvPr/>
        </p:nvSpPr>
        <p:spPr>
          <a:xfrm>
            <a:off x="7126224" y="10488168"/>
            <a:ext cx="0" cy="384048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126224" y="10433304"/>
            <a:ext cx="1781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8A96E"/>
                </a:solidFill>
              </a:rPr>
              <a:t>♿ A11Y</a:t>
            </a:r>
            <a:endParaRPr lang="en-US" sz="1200"/>
          </a:p>
        </p:txBody>
      </p:sp>
      <p:sp>
        <p:nvSpPr>
          <p:cNvPr id="135" name="Text 133"/>
          <p:cNvSpPr/>
          <p:nvPr/>
        </p:nvSpPr>
        <p:spPr>
          <a:xfrm>
            <a:off x="7126224" y="10725912"/>
            <a:ext cx="17815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A8790"/>
                </a:solidFill>
              </a:rPr>
              <a:t>Accessible</a:t>
            </a:r>
            <a:endParaRPr lang="en-US" sz="750"/>
          </a:p>
        </p:txBody>
      </p:sp>
      <p:sp>
        <p:nvSpPr>
          <p:cNvPr id="136" name="Shape 134"/>
          <p:cNvSpPr/>
          <p:nvPr/>
        </p:nvSpPr>
        <p:spPr>
          <a:xfrm>
            <a:off x="8907780" y="10488168"/>
            <a:ext cx="0" cy="384048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907780" y="10433304"/>
            <a:ext cx="1781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8A96E"/>
                </a:solidFill>
              </a:rPr>
              <a:t>📱 PWA</a:t>
            </a:r>
            <a:endParaRPr lang="en-US" sz="1200"/>
          </a:p>
        </p:txBody>
      </p:sp>
      <p:sp>
        <p:nvSpPr>
          <p:cNvPr id="138" name="Text 136"/>
          <p:cNvSpPr/>
          <p:nvPr/>
        </p:nvSpPr>
        <p:spPr>
          <a:xfrm>
            <a:off x="8907780" y="10725912"/>
            <a:ext cx="17815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A8790"/>
                </a:solidFill>
              </a:rPr>
              <a:t>Ready</a:t>
            </a:r>
            <a:endParaRPr lang="en-US" sz="750"/>
          </a:p>
        </p:txBody>
      </p:sp>
      <p:sp>
        <p:nvSpPr>
          <p:cNvPr id="139" name="Shape 137"/>
          <p:cNvSpPr/>
          <p:nvPr/>
        </p:nvSpPr>
        <p:spPr>
          <a:xfrm>
            <a:off x="0" y="10963656"/>
            <a:ext cx="10689336" cy="4142232"/>
          </a:xfrm>
          <a:prstGeom prst="rect">
            <a:avLst/>
          </a:prstGeom>
          <a:solidFill>
            <a:srgbClr val="141417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r>
              <a:rPr lang="en-IN"/>
              <a:t>v</a:t>
            </a:r>
          </a:p>
        </p:txBody>
      </p:sp>
      <p:sp>
        <p:nvSpPr>
          <p:cNvPr id="140" name="Shape 138"/>
          <p:cNvSpPr/>
          <p:nvPr/>
        </p:nvSpPr>
        <p:spPr>
          <a:xfrm>
            <a:off x="0" y="10963656"/>
            <a:ext cx="10689336" cy="36576"/>
          </a:xfrm>
          <a:prstGeom prst="rect">
            <a:avLst/>
          </a:prstGeom>
          <a:solidFill>
            <a:srgbClr val="5CC88A"/>
          </a:solidFill>
          <a:ln w="12700">
            <a:solidFill>
              <a:srgbClr val="5CC88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64592" y="11036808"/>
            <a:ext cx="10360152" cy="237744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64592" y="11036808"/>
            <a:ext cx="10360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8A96E"/>
                </a:solidFill>
              </a:rPr>
              <a:t>Conclusion &amp; Future Scope</a:t>
            </a:r>
            <a:endParaRPr lang="en-US" sz="1000"/>
          </a:p>
        </p:txBody>
      </p:sp>
      <p:sp>
        <p:nvSpPr>
          <p:cNvPr id="143" name="Shape 141"/>
          <p:cNvSpPr/>
          <p:nvPr/>
        </p:nvSpPr>
        <p:spPr>
          <a:xfrm>
            <a:off x="164592" y="11347704"/>
            <a:ext cx="5088636" cy="201168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37744" y="11347704"/>
            <a:ext cx="49971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D0D0F"/>
                </a:solidFill>
              </a:rPr>
              <a:t>📌  Conclusion</a:t>
            </a:r>
            <a:endParaRPr lang="en-US" sz="850"/>
          </a:p>
        </p:txBody>
      </p:sp>
      <p:sp>
        <p:nvSpPr>
          <p:cNvPr id="145" name="Text 143"/>
          <p:cNvSpPr/>
          <p:nvPr/>
        </p:nvSpPr>
        <p:spPr>
          <a:xfrm>
            <a:off x="237744" y="11585448"/>
            <a:ext cx="49789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▸ </a:t>
            </a:r>
            <a:r>
              <a:rPr lang="en-US" sz="780" b="1">
                <a:solidFill>
                  <a:srgbClr val="E8C98E"/>
                </a:solidFill>
              </a:rPr>
              <a:t>Full-Stack Front-End: </a:t>
            </a:r>
            <a:r>
              <a:rPr lang="en-US" sz="780">
                <a:solidFill>
                  <a:srgbClr val="BBAA99"/>
                </a:solidFill>
              </a:rPr>
              <a:t>Demonstrates HTML5, CSS3 (Grid/Flexbox/animations), and ES6+ JS in a polished, production-ready library management platform.</a:t>
            </a:r>
            <a:endParaRPr lang="en-US" sz="780"/>
          </a:p>
        </p:txBody>
      </p:sp>
      <p:sp>
        <p:nvSpPr>
          <p:cNvPr id="146" name="Text 144"/>
          <p:cNvSpPr/>
          <p:nvPr/>
        </p:nvSpPr>
        <p:spPr>
          <a:xfrm>
            <a:off x="237744" y="12006072"/>
            <a:ext cx="49789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▸ </a:t>
            </a:r>
            <a:r>
              <a:rPr lang="en-US" sz="780" b="1">
                <a:solidFill>
                  <a:srgbClr val="E8C98E"/>
                </a:solidFill>
              </a:rPr>
              <a:t>CO Coverage: </a:t>
            </a:r>
            <a:r>
              <a:rPr lang="en-US" sz="780">
                <a:solidFill>
                  <a:srgbClr val="BBAA99"/>
                </a:solidFill>
              </a:rPr>
              <a:t>All four COs covered — semantic structure (CO1), JS logic (CO2), DOM interactivity (CO3), and browser APIs with UX polish (CO4).</a:t>
            </a:r>
            <a:endParaRPr lang="en-US" sz="780"/>
          </a:p>
        </p:txBody>
      </p:sp>
      <p:sp>
        <p:nvSpPr>
          <p:cNvPr id="147" name="Text 145"/>
          <p:cNvSpPr/>
          <p:nvPr/>
        </p:nvSpPr>
        <p:spPr>
          <a:xfrm>
            <a:off x="237744" y="12426696"/>
            <a:ext cx="49789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C8A96E"/>
                </a:solidFill>
              </a:rPr>
              <a:t>▸ </a:t>
            </a:r>
            <a:r>
              <a:rPr lang="en-US" sz="780" b="1">
                <a:solidFill>
                  <a:srgbClr val="E8C98E"/>
                </a:solidFill>
              </a:rPr>
              <a:t>Real-World Practices: </a:t>
            </a:r>
            <a:r>
              <a:rPr lang="en-US" sz="780">
                <a:solidFill>
                  <a:srgbClr val="BBAA99"/>
                </a:solidFill>
              </a:rPr>
              <a:t>Form validation with regex, error messaging, async-safe localStorage, ARIA accessibility, and responsive design across all devices.</a:t>
            </a:r>
            <a:endParaRPr lang="en-US" sz="780"/>
          </a:p>
        </p:txBody>
      </p:sp>
      <p:sp>
        <p:nvSpPr>
          <p:cNvPr id="148" name="Shape 146"/>
          <p:cNvSpPr/>
          <p:nvPr/>
        </p:nvSpPr>
        <p:spPr>
          <a:xfrm>
            <a:off x="5436108" y="11347704"/>
            <a:ext cx="5088636" cy="201168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509260" y="11347704"/>
            <a:ext cx="49971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</a:rPr>
              <a:t>🚀  Future Scope</a:t>
            </a:r>
            <a:endParaRPr lang="en-US" sz="850"/>
          </a:p>
        </p:txBody>
      </p:sp>
      <p:sp>
        <p:nvSpPr>
          <p:cNvPr id="150" name="Text 148"/>
          <p:cNvSpPr/>
          <p:nvPr/>
        </p:nvSpPr>
        <p:spPr>
          <a:xfrm>
            <a:off x="5509260" y="11585448"/>
            <a:ext cx="49789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▸ </a:t>
            </a:r>
            <a:r>
              <a:rPr lang="en-US" sz="780" b="1">
                <a:solidFill>
                  <a:srgbClr val="7EC8F0"/>
                </a:solidFill>
              </a:rPr>
              <a:t>Backend Integration: </a:t>
            </a:r>
            <a:r>
              <a:rPr lang="en-US" sz="780">
                <a:solidFill>
                  <a:srgbClr val="BBAA99"/>
                </a:solidFill>
              </a:rPr>
              <a:t>Node.js/Express REST API with MongoDB for real-time multi-user book management, inventory tracking, and admin dashboard.</a:t>
            </a:r>
            <a:endParaRPr lang="en-US" sz="780"/>
          </a:p>
        </p:txBody>
      </p:sp>
      <p:sp>
        <p:nvSpPr>
          <p:cNvPr id="151" name="Text 149"/>
          <p:cNvSpPr/>
          <p:nvPr/>
        </p:nvSpPr>
        <p:spPr>
          <a:xfrm>
            <a:off x="5509260" y="12006072"/>
            <a:ext cx="49789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▸ </a:t>
            </a:r>
            <a:r>
              <a:rPr lang="en-US" sz="780" b="1">
                <a:solidFill>
                  <a:srgbClr val="7EC8F0"/>
                </a:solidFill>
              </a:rPr>
              <a:t>User Authentication: </a:t>
            </a:r>
            <a:r>
              <a:rPr lang="en-US" sz="780">
                <a:solidFill>
                  <a:srgbClr val="BBAA99"/>
                </a:solidFill>
              </a:rPr>
              <a:t>JWT-based login for members and librarians, personalised dashboards, borrowing history, and fine management system.</a:t>
            </a:r>
            <a:endParaRPr lang="en-US" sz="780"/>
          </a:p>
        </p:txBody>
      </p:sp>
      <p:sp>
        <p:nvSpPr>
          <p:cNvPr id="152" name="Text 150"/>
          <p:cNvSpPr/>
          <p:nvPr/>
        </p:nvSpPr>
        <p:spPr>
          <a:xfrm>
            <a:off x="5509260" y="12426696"/>
            <a:ext cx="49789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80" b="1">
                <a:solidFill>
                  <a:srgbClr val="4A9EDA"/>
                </a:solidFill>
              </a:rPr>
              <a:t>▸ </a:t>
            </a:r>
            <a:r>
              <a:rPr lang="en-US" sz="780" b="1">
                <a:solidFill>
                  <a:srgbClr val="7EC8F0"/>
                </a:solidFill>
              </a:rPr>
              <a:t>PWA &amp; AI Features: </a:t>
            </a:r>
            <a:r>
              <a:rPr lang="en-US" sz="780">
                <a:solidFill>
                  <a:srgbClr val="BBAA99"/>
                </a:solidFill>
              </a:rPr>
              <a:t>Convert to PWA with offline support, push notifications for due dates, and AI-based book recommendations using reading history.</a:t>
            </a:r>
            <a:endParaRPr lang="en-US" sz="780"/>
          </a:p>
        </p:txBody>
      </p:sp>
      <p:sp>
        <p:nvSpPr>
          <p:cNvPr id="153" name="Shape 151"/>
          <p:cNvSpPr/>
          <p:nvPr/>
        </p:nvSpPr>
        <p:spPr>
          <a:xfrm>
            <a:off x="0" y="14831568"/>
            <a:ext cx="10689336" cy="292608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0" y="15087600"/>
            <a:ext cx="10689336" cy="3657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64592" y="14868144"/>
            <a:ext cx="2926080" cy="201168"/>
          </a:xfrm>
          <a:prstGeom prst="rect">
            <a:avLst/>
          </a:prstGeom>
          <a:solidFill>
            <a:srgbClr val="1A1508"/>
          </a:solidFill>
          <a:ln w="10160">
            <a:solidFill>
              <a:srgbClr val="C8A96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64592" y="148681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C8A96E"/>
                </a:solidFill>
              </a:rPr>
              <a:t>📚  Modern Library Technology  •  Secure &amp; Scalable</a:t>
            </a:r>
            <a:endParaRPr lang="en-US" sz="650"/>
          </a:p>
        </p:txBody>
      </p:sp>
      <p:sp>
        <p:nvSpPr>
          <p:cNvPr id="157" name="Shape 155"/>
          <p:cNvSpPr/>
          <p:nvPr/>
        </p:nvSpPr>
        <p:spPr>
          <a:xfrm>
            <a:off x="7488936" y="14868144"/>
            <a:ext cx="3017520" cy="201168"/>
          </a:xfrm>
          <a:prstGeom prst="rect">
            <a:avLst/>
          </a:prstGeom>
          <a:solidFill>
            <a:srgbClr val="081422"/>
          </a:solidFill>
          <a:ln w="10160">
            <a:solidFill>
              <a:srgbClr val="4A9ED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488936" y="13391909"/>
            <a:ext cx="3017520" cy="167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chemeClr val="bg1"/>
                </a:solidFill>
              </a:rPr>
              <a:t>Name: G. Harsha Charan Reddy  </a:t>
            </a:r>
          </a:p>
          <a:p>
            <a:pPr marL="0" indent="0" algn="ctr">
              <a:buNone/>
            </a:pPr>
            <a:r>
              <a:rPr lang="en-US" sz="1050" b="1">
                <a:solidFill>
                  <a:schemeClr val="bg1"/>
                </a:solidFill>
              </a:rPr>
              <a:t>  Roll No: 2520030200</a:t>
            </a:r>
            <a:endParaRPr lang="en-US" sz="1050">
              <a:solidFill>
                <a:schemeClr val="bg1"/>
              </a:solidFill>
            </a:endParaRP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320AA169-BC8D-32C0-F9D0-641222912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20884"/>
            <a:ext cx="2022296" cy="9032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Office PowerPoint</Application>
  <PresentationFormat>Custom</PresentationFormat>
  <Paragraphs>98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Bhavitha Reddy</cp:lastModifiedBy>
  <cp:revision>2</cp:revision>
  <dcterms:created xsi:type="dcterms:W3CDTF">2026-03-06T13:14:46Z</dcterms:created>
  <dcterms:modified xsi:type="dcterms:W3CDTF">2026-03-07T09:16:58Z</dcterms:modified>
</cp:coreProperties>
</file>